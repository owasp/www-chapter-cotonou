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Montserrat Bold" panose="00000800000000000000" charset="0"/>
      <p:regular r:id="rId27"/>
    </p:embeddedFont>
    <p:embeddedFont>
      <p:font typeface="Montserrat Ultra-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375" autoAdjust="0"/>
  </p:normalViewPr>
  <p:slideViewPr>
    <p:cSldViewPr>
      <p:cViewPr varScale="1">
        <p:scale>
          <a:sx n="42" d="100"/>
          <a:sy n="42" d="100"/>
        </p:scale>
        <p:origin x="5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92EED-E69D-4CE7-814B-F4BE953EBC6E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3FCEB-BEF5-4C51-87DD-8B542BBC8A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826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Intelligence </a:t>
            </a:r>
            <a:r>
              <a:rPr lang="en-US" sz="1800" b="1" spc="-60" dirty="0" err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artificielle</a:t>
            </a:r>
            <a:r>
              <a:rPr lang="en-US" sz="18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fr-BJ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Les </a:t>
            </a:r>
            <a:r>
              <a:rPr lang="fr-BJ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chatbots</a:t>
            </a:r>
            <a:r>
              <a:rPr lang="fr-BJ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Le filtre anti-spam (basé sur règles), Les systèmes d'aide à la décision financière</a:t>
            </a:r>
            <a:r>
              <a:rPr lang="fr-F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BJ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correcteurs orthographiques simples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BJ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IA </a:t>
            </a:r>
            <a:r>
              <a:rPr lang="en-US" sz="1200" b="1" spc="-60" dirty="0" err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générative</a:t>
            </a:r>
            <a:r>
              <a:rPr lang="en-US" sz="12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fr-BJ" sz="12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ChatGPT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Gemini,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J" sz="1200" b="1" spc="-60" dirty="0">
              <a:solidFill>
                <a:srgbClr val="004AAD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lvl="0"/>
            <a:r>
              <a:rPr lang="en-US" sz="12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Phishing</a:t>
            </a:r>
            <a:r>
              <a:rPr lang="fr-BJ" sz="12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"Votre compte bancaire sera bloqué, cliquez ici ! </a:t>
            </a:r>
            <a:r>
              <a:rPr lang="fr-BJ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"Votre colis arrive, payez 2 000 F de frais."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spc="-60" dirty="0">
              <a:solidFill>
                <a:srgbClr val="004AAD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spc="-60" dirty="0" err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Ingénierie</a:t>
            </a:r>
            <a:r>
              <a:rPr lang="en-US" sz="12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0" b="1" spc="-60" dirty="0" err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sociale</a:t>
            </a:r>
            <a:r>
              <a:rPr lang="en-US" sz="12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(Social Engineering)</a:t>
            </a:r>
            <a:r>
              <a:rPr lang="fr-BJ" sz="12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: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chatbot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IA qui converse avec un employé, imitant un collègue, pour obtenir son mot de passe ou un code OTP.</a:t>
            </a:r>
            <a:endParaRPr lang="en-US" sz="1200" b="1" spc="-60" dirty="0">
              <a:solidFill>
                <a:srgbClr val="004AAD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B3FCEB-BEF5-4C51-87DD-8B542BBC8A2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3767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B3FCEB-BEF5-4C51-87DD-8B542BBC8A2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537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2b-cyber-security.de/fr/rapport-de-phishing-Les-attaques-g%C3%A9n%C3%A9r%C3%A9es-par-l%27IA-sont-en-augmentation/?utm_source=chatgpt.com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2b-cyber-security.de/fr/rapport-de-phishing-Les-attaques-g%C3%A9n%C3%A9r%C3%A9es-par-l%27IA-sont-en-augmentation/?utm_source=chatgpt.com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2b-cyber-security.de/fr/rapport-de-phishing-Les-attaques-g%C3%A9n%C3%A9r%C3%A9es-par-l%27IA-sont-en-augmentation/?utm_source=chatgpt.co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2b-cyber-security.de/fr/rapport-de-phishing-Les-attaques-g%C3%A9n%C3%A9r%C3%A9es-par-l%27IA-sont-en-augmentation/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078480"/>
            <a:ext cx="13877853" cy="3039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1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L’IA : </a:t>
            </a:r>
          </a:p>
          <a:p>
            <a:pPr algn="l">
              <a:lnSpc>
                <a:spcPts val="7800"/>
              </a:lnSpc>
            </a:pPr>
            <a:r>
              <a:rPr lang="en-US" sz="7800" b="1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accélérateur d’attaques sophistiquées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813650" y="4521838"/>
            <a:ext cx="6927198" cy="6927198"/>
            <a:chOff x="0" y="0"/>
            <a:chExt cx="9236264" cy="92362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36202" cy="9236202"/>
            </a:xfrm>
            <a:custGeom>
              <a:avLst/>
              <a:gdLst/>
              <a:ahLst/>
              <a:cxnLst/>
              <a:rect l="l" t="t" r="r" b="b"/>
              <a:pathLst>
                <a:path w="9236202" h="9236202">
                  <a:moveTo>
                    <a:pt x="0" y="4618101"/>
                  </a:moveTo>
                  <a:lnTo>
                    <a:pt x="4618101" y="0"/>
                  </a:lnTo>
                  <a:lnTo>
                    <a:pt x="9236202" y="4618101"/>
                  </a:lnTo>
                  <a:lnTo>
                    <a:pt x="4618101" y="9236202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3529930" y="5238118"/>
            <a:ext cx="5494638" cy="5494638"/>
            <a:chOff x="0" y="0"/>
            <a:chExt cx="7326184" cy="73261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26122" cy="7326122"/>
            </a:xfrm>
            <a:custGeom>
              <a:avLst/>
              <a:gdLst/>
              <a:ahLst/>
              <a:cxnLst/>
              <a:rect l="l" t="t" r="r" b="b"/>
              <a:pathLst>
                <a:path w="7326122" h="7326122">
                  <a:moveTo>
                    <a:pt x="0" y="3663061"/>
                  </a:moveTo>
                  <a:lnTo>
                    <a:pt x="3663061" y="0"/>
                  </a:lnTo>
                  <a:lnTo>
                    <a:pt x="7326122" y="3663061"/>
                  </a:lnTo>
                  <a:lnTo>
                    <a:pt x="3663061" y="7326122"/>
                  </a:lnTo>
                  <a:close/>
                </a:path>
              </a:pathLst>
            </a:custGeom>
            <a:blipFill>
              <a:blip r:embed="rId2"/>
              <a:stretch>
                <a:fillRect l="-45725" t="-34061" r="-144555" b="-29023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918192" y="8560483"/>
            <a:ext cx="3634061" cy="1291223"/>
          </a:xfrm>
          <a:custGeom>
            <a:avLst/>
            <a:gdLst/>
            <a:ahLst/>
            <a:cxnLst/>
            <a:rect l="l" t="t" r="r" b="b"/>
            <a:pathLst>
              <a:path w="3634061" h="1291223">
                <a:moveTo>
                  <a:pt x="0" y="0"/>
                </a:moveTo>
                <a:lnTo>
                  <a:pt x="3634061" y="0"/>
                </a:lnTo>
                <a:lnTo>
                  <a:pt x="3634061" y="1291223"/>
                </a:lnTo>
                <a:lnTo>
                  <a:pt x="0" y="1291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680070" y="8560483"/>
            <a:ext cx="1364816" cy="1291223"/>
          </a:xfrm>
          <a:custGeom>
            <a:avLst/>
            <a:gdLst/>
            <a:ahLst/>
            <a:cxnLst/>
            <a:rect l="l" t="t" r="r" b="b"/>
            <a:pathLst>
              <a:path w="1364816" h="1291223">
                <a:moveTo>
                  <a:pt x="0" y="0"/>
                </a:moveTo>
                <a:lnTo>
                  <a:pt x="1364816" y="0"/>
                </a:lnTo>
                <a:lnTo>
                  <a:pt x="1364816" y="1291223"/>
                </a:lnTo>
                <a:lnTo>
                  <a:pt x="0" y="1291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122238" y="8560483"/>
            <a:ext cx="5119787" cy="1215949"/>
          </a:xfrm>
          <a:custGeom>
            <a:avLst/>
            <a:gdLst/>
            <a:ahLst/>
            <a:cxnLst/>
            <a:rect l="l" t="t" r="r" b="b"/>
            <a:pathLst>
              <a:path w="5119787" h="1215949">
                <a:moveTo>
                  <a:pt x="0" y="0"/>
                </a:moveTo>
                <a:lnTo>
                  <a:pt x="5119787" y="0"/>
                </a:lnTo>
                <a:lnTo>
                  <a:pt x="5119787" y="1215949"/>
                </a:lnTo>
                <a:lnTo>
                  <a:pt x="0" y="1215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417067" y="8560483"/>
            <a:ext cx="2257332" cy="1215949"/>
          </a:xfrm>
          <a:custGeom>
            <a:avLst/>
            <a:gdLst/>
            <a:ahLst/>
            <a:cxnLst/>
            <a:rect l="l" t="t" r="r" b="b"/>
            <a:pathLst>
              <a:path w="2257332" h="1215949">
                <a:moveTo>
                  <a:pt x="0" y="0"/>
                </a:moveTo>
                <a:lnTo>
                  <a:pt x="2257332" y="0"/>
                </a:lnTo>
                <a:lnTo>
                  <a:pt x="2257332" y="1215949"/>
                </a:lnTo>
                <a:lnTo>
                  <a:pt x="0" y="1215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8192" y="894443"/>
            <a:ext cx="2854015" cy="1574437"/>
          </a:xfrm>
          <a:custGeom>
            <a:avLst/>
            <a:gdLst/>
            <a:ahLst/>
            <a:cxnLst/>
            <a:rect l="l" t="t" r="r" b="b"/>
            <a:pathLst>
              <a:path w="2854015" h="1574437">
                <a:moveTo>
                  <a:pt x="0" y="0"/>
                </a:moveTo>
                <a:lnTo>
                  <a:pt x="2854015" y="0"/>
                </a:lnTo>
                <a:lnTo>
                  <a:pt x="2854015" y="1574437"/>
                </a:lnTo>
                <a:lnTo>
                  <a:pt x="0" y="15744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6416194"/>
            <a:ext cx="9610188" cy="128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Serge EGNONSE</a:t>
            </a:r>
          </a:p>
          <a:p>
            <a:pPr algn="l">
              <a:lnSpc>
                <a:spcPts val="2220"/>
              </a:lnSpc>
            </a:pPr>
            <a:r>
              <a:rPr lang="en-US" sz="2000" spc="-4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Responsable des Systèmes d’Informations </a:t>
            </a:r>
          </a:p>
          <a:p>
            <a:pPr algn="l">
              <a:lnSpc>
                <a:spcPts val="2220"/>
              </a:lnSpc>
            </a:pPr>
            <a:r>
              <a:rPr lang="en-US" sz="2000" spc="-4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Certifié ISO/IEC 27001 lead Auditor et ISO/IEC 27005 lead Risk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04132"/>
            <a:ext cx="13877853" cy="10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 </a:t>
            </a:r>
          </a:p>
        </p:txBody>
      </p:sp>
      <p:sp>
        <p:nvSpPr>
          <p:cNvPr id="3" name="Freeform 3"/>
          <p:cNvSpPr/>
          <p:nvPr/>
        </p:nvSpPr>
        <p:spPr>
          <a:xfrm>
            <a:off x="918192" y="635363"/>
            <a:ext cx="2854015" cy="1574437"/>
          </a:xfrm>
          <a:custGeom>
            <a:avLst/>
            <a:gdLst/>
            <a:ahLst/>
            <a:cxnLst/>
            <a:rect l="l" t="t" r="r" b="b"/>
            <a:pathLst>
              <a:path w="2854015" h="1574437">
                <a:moveTo>
                  <a:pt x="0" y="0"/>
                </a:moveTo>
                <a:lnTo>
                  <a:pt x="2854015" y="0"/>
                </a:lnTo>
                <a:lnTo>
                  <a:pt x="2854015" y="1574437"/>
                </a:lnTo>
                <a:lnTo>
                  <a:pt x="0" y="157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055745"/>
            <a:ext cx="16230600" cy="394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999" b="1" spc="-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1- Concepts fondamentaux à Maitriser</a:t>
            </a:r>
          </a:p>
          <a:p>
            <a:pPr algn="l">
              <a:lnSpc>
                <a:spcPts val="4439"/>
              </a:lnSpc>
            </a:pPr>
            <a:endParaRPr lang="en-US" sz="3999" b="1" spc="-79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4439"/>
              </a:lnSpc>
            </a:pPr>
            <a:r>
              <a:rPr lang="en-US" sz="3999" b="1" spc="-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2 - Comment l’IA rend les arnaques plus dangereuses ?</a:t>
            </a:r>
          </a:p>
          <a:p>
            <a:pPr algn="l">
              <a:lnSpc>
                <a:spcPts val="4439"/>
              </a:lnSpc>
            </a:pPr>
            <a:endParaRPr lang="en-US" sz="3999" b="1" spc="-79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4439"/>
              </a:lnSpc>
            </a:pPr>
            <a:r>
              <a:rPr lang="en-US" sz="3999" b="1" spc="-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3 - Focus 2025 : Attaques amplifiées par l’IA</a:t>
            </a:r>
          </a:p>
          <a:p>
            <a:pPr algn="l">
              <a:lnSpc>
                <a:spcPts val="4439"/>
              </a:lnSpc>
            </a:pPr>
            <a:endParaRPr lang="en-US" sz="3999" b="1" spc="-79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4439"/>
              </a:lnSpc>
            </a:pPr>
            <a:r>
              <a:rPr lang="en-US" sz="3999" b="1" spc="-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4 - Démonstration pédagogique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9746"/>
            <a:ext cx="9144000" cy="1165718"/>
            <a:chOff x="0" y="0"/>
            <a:chExt cx="12192000" cy="1554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1554226"/>
            </a:xfrm>
            <a:custGeom>
              <a:avLst/>
              <a:gdLst/>
              <a:ahLst/>
              <a:cxnLst/>
              <a:rect l="l" t="t" r="r" b="b"/>
              <a:pathLst>
                <a:path w="12192000" h="1554226">
                  <a:moveTo>
                    <a:pt x="0" y="0"/>
                  </a:moveTo>
                  <a:lnTo>
                    <a:pt x="2458720" y="0"/>
                  </a:lnTo>
                  <a:lnTo>
                    <a:pt x="2600960" y="0"/>
                  </a:lnTo>
                  <a:lnTo>
                    <a:pt x="4871720" y="0"/>
                  </a:lnTo>
                  <a:lnTo>
                    <a:pt x="5059680" y="0"/>
                  </a:lnTo>
                  <a:lnTo>
                    <a:pt x="5603367" y="0"/>
                  </a:lnTo>
                  <a:lnTo>
                    <a:pt x="5623560" y="0"/>
                  </a:lnTo>
                  <a:lnTo>
                    <a:pt x="6355207" y="0"/>
                  </a:lnTo>
                  <a:lnTo>
                    <a:pt x="7330440" y="0"/>
                  </a:lnTo>
                  <a:lnTo>
                    <a:pt x="7472680" y="0"/>
                  </a:lnTo>
                  <a:lnTo>
                    <a:pt x="8062087" y="0"/>
                  </a:lnTo>
                  <a:lnTo>
                    <a:pt x="8082280" y="0"/>
                  </a:lnTo>
                  <a:lnTo>
                    <a:pt x="8204327" y="0"/>
                  </a:lnTo>
                  <a:lnTo>
                    <a:pt x="8224520" y="0"/>
                  </a:lnTo>
                  <a:lnTo>
                    <a:pt x="8813927" y="0"/>
                  </a:lnTo>
                  <a:lnTo>
                    <a:pt x="8956167" y="0"/>
                  </a:lnTo>
                  <a:lnTo>
                    <a:pt x="9931400" y="0"/>
                  </a:lnTo>
                  <a:lnTo>
                    <a:pt x="10663047" y="0"/>
                  </a:lnTo>
                  <a:lnTo>
                    <a:pt x="10683240" y="0"/>
                  </a:lnTo>
                  <a:lnTo>
                    <a:pt x="11414887" y="0"/>
                  </a:lnTo>
                  <a:lnTo>
                    <a:pt x="12192000" y="777113"/>
                  </a:lnTo>
                  <a:lnTo>
                    <a:pt x="11414887" y="1554226"/>
                  </a:lnTo>
                  <a:lnTo>
                    <a:pt x="10683240" y="1554226"/>
                  </a:lnTo>
                  <a:lnTo>
                    <a:pt x="10663047" y="1554226"/>
                  </a:lnTo>
                  <a:lnTo>
                    <a:pt x="9931400" y="1554226"/>
                  </a:lnTo>
                  <a:lnTo>
                    <a:pt x="8956167" y="1554226"/>
                  </a:lnTo>
                  <a:lnTo>
                    <a:pt x="8813927" y="1554226"/>
                  </a:lnTo>
                  <a:lnTo>
                    <a:pt x="8224520" y="1554226"/>
                  </a:lnTo>
                  <a:lnTo>
                    <a:pt x="8204326" y="1554226"/>
                  </a:lnTo>
                  <a:lnTo>
                    <a:pt x="8082280" y="1554226"/>
                  </a:lnTo>
                  <a:lnTo>
                    <a:pt x="8062087" y="1554226"/>
                  </a:lnTo>
                  <a:lnTo>
                    <a:pt x="7472680" y="1554226"/>
                  </a:lnTo>
                  <a:lnTo>
                    <a:pt x="7330440" y="1554226"/>
                  </a:lnTo>
                  <a:lnTo>
                    <a:pt x="6355207" y="1554226"/>
                  </a:lnTo>
                  <a:lnTo>
                    <a:pt x="5623560" y="1554226"/>
                  </a:lnTo>
                  <a:lnTo>
                    <a:pt x="5603367" y="1554226"/>
                  </a:lnTo>
                  <a:lnTo>
                    <a:pt x="5059680" y="1554226"/>
                  </a:lnTo>
                  <a:lnTo>
                    <a:pt x="4871720" y="1554226"/>
                  </a:lnTo>
                  <a:lnTo>
                    <a:pt x="2600960" y="1554226"/>
                  </a:lnTo>
                  <a:lnTo>
                    <a:pt x="2458720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28700" y="831142"/>
            <a:ext cx="637508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Introduction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28700" y="3276352"/>
            <a:ext cx="7148315" cy="4941216"/>
            <a:chOff x="0" y="0"/>
            <a:chExt cx="10801350" cy="74663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01350" cy="7466330"/>
            </a:xfrm>
            <a:custGeom>
              <a:avLst/>
              <a:gdLst/>
              <a:ahLst/>
              <a:cxnLst/>
              <a:rect l="l" t="t" r="r" b="b"/>
              <a:pathLst>
                <a:path w="10801350" h="7466330">
                  <a:moveTo>
                    <a:pt x="0" y="0"/>
                  </a:moveTo>
                  <a:lnTo>
                    <a:pt x="10801350" y="0"/>
                  </a:lnTo>
                  <a:lnTo>
                    <a:pt x="10801350" y="7466330"/>
                  </a:lnTo>
                  <a:lnTo>
                    <a:pt x="0" y="7466330"/>
                  </a:lnTo>
                  <a:close/>
                </a:path>
              </a:pathLst>
            </a:custGeom>
            <a:blipFill>
              <a:blip r:embed="rId2"/>
              <a:stretch>
                <a:fillRect l="-1937" r="-193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144000" y="5156411"/>
            <a:ext cx="7917119" cy="2384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Exemples</a:t>
            </a: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typiques</a:t>
            </a: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d’attaques</a:t>
            </a: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9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accélérées</a:t>
            </a: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par </a:t>
            </a:r>
            <a:r>
              <a:rPr lang="en-US" sz="39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l’IA</a:t>
            </a:r>
            <a:endParaRPr lang="fr-BJ" sz="39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4799"/>
              </a:lnSpc>
            </a:pPr>
            <a:r>
              <a:rPr lang="fr-BJ" sz="24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Vidéo d’exemples d’attaques facilité par l’IA à diffuser</a:t>
            </a:r>
            <a:endParaRPr lang="en-US" sz="24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44120" y="4230586"/>
            <a:ext cx="2643543" cy="2643543"/>
            <a:chOff x="0" y="0"/>
            <a:chExt cx="3524724" cy="35247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4758" cy="3524758"/>
            </a:xfrm>
            <a:custGeom>
              <a:avLst/>
              <a:gdLst/>
              <a:ahLst/>
              <a:cxnLst/>
              <a:rect l="l" t="t" r="r" b="b"/>
              <a:pathLst>
                <a:path w="3524758" h="3524758">
                  <a:moveTo>
                    <a:pt x="0" y="1762379"/>
                  </a:moveTo>
                  <a:lnTo>
                    <a:pt x="1762379" y="0"/>
                  </a:lnTo>
                  <a:lnTo>
                    <a:pt x="3524758" y="1762379"/>
                  </a:lnTo>
                  <a:lnTo>
                    <a:pt x="1762379" y="3524758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822228" y="2752477"/>
            <a:ext cx="2643543" cy="2643543"/>
            <a:chOff x="0" y="0"/>
            <a:chExt cx="3524724" cy="35247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24758" cy="3524758"/>
            </a:xfrm>
            <a:custGeom>
              <a:avLst/>
              <a:gdLst/>
              <a:ahLst/>
              <a:cxnLst/>
              <a:rect l="l" t="t" r="r" b="b"/>
              <a:pathLst>
                <a:path w="3524758" h="3524758">
                  <a:moveTo>
                    <a:pt x="0" y="1762379"/>
                  </a:moveTo>
                  <a:lnTo>
                    <a:pt x="1762379" y="0"/>
                  </a:lnTo>
                  <a:lnTo>
                    <a:pt x="3524758" y="1762379"/>
                  </a:lnTo>
                  <a:lnTo>
                    <a:pt x="1762379" y="3524758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300338" y="4230586"/>
            <a:ext cx="2643543" cy="2643543"/>
            <a:chOff x="0" y="0"/>
            <a:chExt cx="3524724" cy="35247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24758" cy="3524758"/>
            </a:xfrm>
            <a:custGeom>
              <a:avLst/>
              <a:gdLst/>
              <a:ahLst/>
              <a:cxnLst/>
              <a:rect l="l" t="t" r="r" b="b"/>
              <a:pathLst>
                <a:path w="3524758" h="3524758">
                  <a:moveTo>
                    <a:pt x="0" y="1762379"/>
                  </a:moveTo>
                  <a:lnTo>
                    <a:pt x="1762379" y="0"/>
                  </a:lnTo>
                  <a:lnTo>
                    <a:pt x="3524758" y="1762379"/>
                  </a:lnTo>
                  <a:lnTo>
                    <a:pt x="1762379" y="3524758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822228" y="5708696"/>
            <a:ext cx="2643543" cy="2643543"/>
            <a:chOff x="0" y="0"/>
            <a:chExt cx="3524724" cy="35247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24758" cy="3524758"/>
            </a:xfrm>
            <a:custGeom>
              <a:avLst/>
              <a:gdLst/>
              <a:ahLst/>
              <a:cxnLst/>
              <a:rect l="l" t="t" r="r" b="b"/>
              <a:pathLst>
                <a:path w="3524758" h="3524758">
                  <a:moveTo>
                    <a:pt x="0" y="1762379"/>
                  </a:moveTo>
                  <a:lnTo>
                    <a:pt x="1762379" y="0"/>
                  </a:lnTo>
                  <a:lnTo>
                    <a:pt x="3524758" y="1762379"/>
                  </a:lnTo>
                  <a:lnTo>
                    <a:pt x="1762379" y="3524758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519746"/>
            <a:ext cx="15619974" cy="1708856"/>
            <a:chOff x="0" y="0"/>
            <a:chExt cx="20826632" cy="22784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826633" cy="2278381"/>
            </a:xfrm>
            <a:custGeom>
              <a:avLst/>
              <a:gdLst/>
              <a:ahLst/>
              <a:cxnLst/>
              <a:rect l="l" t="t" r="r" b="b"/>
              <a:pathLst>
                <a:path w="20826633" h="2278381">
                  <a:moveTo>
                    <a:pt x="0" y="0"/>
                  </a:moveTo>
                  <a:lnTo>
                    <a:pt x="4200037" y="0"/>
                  </a:lnTo>
                  <a:lnTo>
                    <a:pt x="4443015" y="0"/>
                  </a:lnTo>
                  <a:lnTo>
                    <a:pt x="8321975" y="0"/>
                  </a:lnTo>
                  <a:lnTo>
                    <a:pt x="8643052" y="0"/>
                  </a:lnTo>
                  <a:lnTo>
                    <a:pt x="9571790" y="0"/>
                  </a:lnTo>
                  <a:lnTo>
                    <a:pt x="9606284" y="0"/>
                  </a:lnTo>
                  <a:lnTo>
                    <a:pt x="10856099" y="0"/>
                  </a:lnTo>
                  <a:lnTo>
                    <a:pt x="12522012" y="0"/>
                  </a:lnTo>
                  <a:lnTo>
                    <a:pt x="12764991" y="0"/>
                  </a:lnTo>
                  <a:lnTo>
                    <a:pt x="13771828" y="0"/>
                  </a:lnTo>
                  <a:lnTo>
                    <a:pt x="13806322" y="0"/>
                  </a:lnTo>
                  <a:lnTo>
                    <a:pt x="14014805" y="0"/>
                  </a:lnTo>
                  <a:lnTo>
                    <a:pt x="14049299" y="0"/>
                  </a:lnTo>
                  <a:lnTo>
                    <a:pt x="15056137" y="0"/>
                  </a:lnTo>
                  <a:lnTo>
                    <a:pt x="15299114" y="0"/>
                  </a:lnTo>
                  <a:lnTo>
                    <a:pt x="16965028" y="0"/>
                  </a:lnTo>
                  <a:lnTo>
                    <a:pt x="18214842" y="0"/>
                  </a:lnTo>
                  <a:lnTo>
                    <a:pt x="18249337" y="0"/>
                  </a:lnTo>
                  <a:lnTo>
                    <a:pt x="19499151" y="0"/>
                  </a:lnTo>
                  <a:lnTo>
                    <a:pt x="20826633" y="1139191"/>
                  </a:lnTo>
                  <a:lnTo>
                    <a:pt x="19499151" y="2278381"/>
                  </a:lnTo>
                  <a:lnTo>
                    <a:pt x="18249337" y="2278381"/>
                  </a:lnTo>
                  <a:lnTo>
                    <a:pt x="18214842" y="2278381"/>
                  </a:lnTo>
                  <a:lnTo>
                    <a:pt x="16965028" y="2278381"/>
                  </a:lnTo>
                  <a:lnTo>
                    <a:pt x="15299114" y="2278381"/>
                  </a:lnTo>
                  <a:lnTo>
                    <a:pt x="15056137" y="2278381"/>
                  </a:lnTo>
                  <a:lnTo>
                    <a:pt x="14049299" y="2278381"/>
                  </a:lnTo>
                  <a:lnTo>
                    <a:pt x="14014803" y="2278381"/>
                  </a:lnTo>
                  <a:lnTo>
                    <a:pt x="13806320" y="2278381"/>
                  </a:lnTo>
                  <a:lnTo>
                    <a:pt x="13771828" y="2278381"/>
                  </a:lnTo>
                  <a:lnTo>
                    <a:pt x="12764991" y="2278381"/>
                  </a:lnTo>
                  <a:lnTo>
                    <a:pt x="12522012" y="2278381"/>
                  </a:lnTo>
                  <a:lnTo>
                    <a:pt x="10856099" y="2278381"/>
                  </a:lnTo>
                  <a:lnTo>
                    <a:pt x="9606283" y="2278381"/>
                  </a:lnTo>
                  <a:lnTo>
                    <a:pt x="9571789" y="2278381"/>
                  </a:lnTo>
                  <a:lnTo>
                    <a:pt x="8643052" y="2278381"/>
                  </a:lnTo>
                  <a:lnTo>
                    <a:pt x="8321975" y="2278381"/>
                  </a:lnTo>
                  <a:lnTo>
                    <a:pt x="4443015" y="2278381"/>
                  </a:lnTo>
                  <a:lnTo>
                    <a:pt x="4200037" y="2278381"/>
                  </a:lnTo>
                  <a:lnTo>
                    <a:pt x="0" y="2278381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0" y="519746"/>
            <a:ext cx="936307" cy="1708856"/>
            <a:chOff x="0" y="0"/>
            <a:chExt cx="1248410" cy="22784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48410" cy="2278538"/>
            </a:xfrm>
            <a:custGeom>
              <a:avLst/>
              <a:gdLst/>
              <a:ahLst/>
              <a:cxnLst/>
              <a:rect l="l" t="t" r="r" b="b"/>
              <a:pathLst>
                <a:path w="1248410" h="2278538">
                  <a:moveTo>
                    <a:pt x="0" y="0"/>
                  </a:moveTo>
                  <a:lnTo>
                    <a:pt x="471297" y="0"/>
                  </a:lnTo>
                  <a:lnTo>
                    <a:pt x="1248410" y="1139191"/>
                  </a:lnTo>
                  <a:lnTo>
                    <a:pt x="471297" y="2278538"/>
                  </a:lnTo>
                  <a:lnTo>
                    <a:pt x="0" y="2278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10141548" y="4918081"/>
            <a:ext cx="961121" cy="955879"/>
          </a:xfrm>
          <a:custGeom>
            <a:avLst/>
            <a:gdLst/>
            <a:ahLst/>
            <a:cxnLst/>
            <a:rect l="l" t="t" r="r" b="b"/>
            <a:pathLst>
              <a:path w="961121" h="955879">
                <a:moveTo>
                  <a:pt x="0" y="0"/>
                </a:moveTo>
                <a:lnTo>
                  <a:pt x="961122" y="0"/>
                </a:lnTo>
                <a:lnTo>
                  <a:pt x="961122" y="955879"/>
                </a:lnTo>
                <a:lnTo>
                  <a:pt x="0" y="9558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187952" y="5074419"/>
            <a:ext cx="955879" cy="955879"/>
          </a:xfrm>
          <a:custGeom>
            <a:avLst/>
            <a:gdLst/>
            <a:ahLst/>
            <a:cxnLst/>
            <a:rect l="l" t="t" r="r" b="b"/>
            <a:pathLst>
              <a:path w="955879" h="955879">
                <a:moveTo>
                  <a:pt x="0" y="0"/>
                </a:moveTo>
                <a:lnTo>
                  <a:pt x="955878" y="0"/>
                </a:lnTo>
                <a:lnTo>
                  <a:pt x="955878" y="955878"/>
                </a:lnTo>
                <a:lnTo>
                  <a:pt x="0" y="955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683440" y="6552528"/>
            <a:ext cx="921120" cy="955879"/>
          </a:xfrm>
          <a:custGeom>
            <a:avLst/>
            <a:gdLst/>
            <a:ahLst/>
            <a:cxnLst/>
            <a:rect l="l" t="t" r="r" b="b"/>
            <a:pathLst>
              <a:path w="921120" h="955879">
                <a:moveTo>
                  <a:pt x="0" y="0"/>
                </a:moveTo>
                <a:lnTo>
                  <a:pt x="921120" y="0"/>
                </a:lnTo>
                <a:lnTo>
                  <a:pt x="921120" y="955878"/>
                </a:lnTo>
                <a:lnTo>
                  <a:pt x="0" y="9558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797277" y="3518104"/>
            <a:ext cx="693447" cy="955879"/>
          </a:xfrm>
          <a:custGeom>
            <a:avLst/>
            <a:gdLst/>
            <a:ahLst/>
            <a:cxnLst/>
            <a:rect l="l" t="t" r="r" b="b"/>
            <a:pathLst>
              <a:path w="693447" h="955879">
                <a:moveTo>
                  <a:pt x="0" y="0"/>
                </a:moveTo>
                <a:lnTo>
                  <a:pt x="693447" y="0"/>
                </a:lnTo>
                <a:lnTo>
                  <a:pt x="693447" y="955879"/>
                </a:lnTo>
                <a:lnTo>
                  <a:pt x="0" y="955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2877772"/>
            <a:ext cx="493195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Intelligence </a:t>
            </a:r>
            <a:r>
              <a:rPr lang="en-US" sz="3000" b="1" spc="-60" dirty="0" err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artificielle</a:t>
            </a:r>
            <a:r>
              <a:rPr lang="en-US" sz="30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6125638"/>
            <a:ext cx="493195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IA </a:t>
            </a:r>
            <a:r>
              <a:rPr lang="en-US" sz="3000" b="1" spc="-60" dirty="0" err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générative</a:t>
            </a:r>
            <a:r>
              <a:rPr lang="en-US" sz="30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25673" y="8371288"/>
            <a:ext cx="79493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60" dirty="0" err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Ingénierie</a:t>
            </a:r>
            <a:r>
              <a:rPr lang="en-US" sz="30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000" b="1" spc="-60" dirty="0" err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sociale</a:t>
            </a:r>
            <a:r>
              <a:rPr lang="en-US" sz="30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(Social Engineering)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190" y="6621028"/>
            <a:ext cx="5304464" cy="201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L'IA </a:t>
            </a:r>
            <a:r>
              <a:rPr lang="en-US" sz="1800" spc="-3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générative</a:t>
            </a: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est un type </a:t>
            </a:r>
            <a:r>
              <a:rPr lang="en-US" sz="1800" spc="-3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d'intelligence</a:t>
            </a: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artificielle</a:t>
            </a: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capable de </a:t>
            </a:r>
            <a:r>
              <a:rPr lang="en-US" sz="1800" spc="-3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créer</a:t>
            </a: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du nouveau </a:t>
            </a:r>
            <a:r>
              <a:rPr lang="en-US" sz="1800" spc="-3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contenu</a:t>
            </a: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original, </a:t>
            </a:r>
            <a:r>
              <a:rPr lang="en-US" sz="1800" spc="-3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</a:t>
            </a: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du </a:t>
            </a:r>
            <a:r>
              <a:rPr lang="en-US" sz="1800" spc="-3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texte</a:t>
            </a: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des images, des </a:t>
            </a:r>
            <a:r>
              <a:rPr lang="en-US" sz="1800" spc="-3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vidéos</a:t>
            </a: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</a:t>
            </a: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la musique, à partir de </a:t>
            </a:r>
            <a:r>
              <a:rPr lang="en-US" sz="1800" spc="-3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données</a:t>
            </a: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spc="-36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existantes</a:t>
            </a:r>
            <a:r>
              <a:rPr lang="en-US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48362" y="8866589"/>
            <a:ext cx="9278601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 spc="-3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L’ingénierie sociale consiste à manipuler psychologiquement une personne pour qu’elle effectue une action qu’elle ne ferait pas normalement.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27350" y="2877772"/>
            <a:ext cx="493194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60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Phishing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27348" y="3373162"/>
            <a:ext cx="5390428" cy="242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 spc="-3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 phishing, ou hameçonnage, est une technique frauduleuse qui consiste à usurper l'identité d'une organisation de confiance (banque, administration, etc.) pour tromper un individu et l'inciter à divulguer des informations personnelles ou bancaires sensibles.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7350" y="6125638"/>
            <a:ext cx="493194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6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Deepfakes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7348" y="6621028"/>
            <a:ext cx="5390428" cy="160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 spc="-3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Les deepfakes sont des contenus audio ou vidéo générés ou manipulés par l’IA pour faire dire ou faire faire à une personne quelque chose qu’elle n’a jamais dit ou fait.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88773" y="1102712"/>
            <a:ext cx="1351011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Fondamentaux à Maitriser</a:t>
            </a:r>
          </a:p>
        </p:txBody>
      </p:sp>
      <p:sp>
        <p:nvSpPr>
          <p:cNvPr id="29" name="TextBox 22">
            <a:extLst>
              <a:ext uri="{FF2B5EF4-FFF2-40B4-BE49-F238E27FC236}">
                <a16:creationId xmlns:a16="http://schemas.microsoft.com/office/drawing/2014/main" id="{0B70B62A-BD3F-41EE-286C-95498CCF87CF}"/>
              </a:ext>
            </a:extLst>
          </p:cNvPr>
          <p:cNvSpPr txBox="1"/>
          <p:nvPr/>
        </p:nvSpPr>
        <p:spPr>
          <a:xfrm>
            <a:off x="692660" y="3347758"/>
            <a:ext cx="5304464" cy="241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fr-FR" sz="1800" spc="-36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Ensemble des programmes ou algorithmes permettant aux machines d'effectuer des tâches typiquement associées à l'intelligence humaine, comme l'apprentissage, le raisonnement, la résolution de problème, la perception ou la prise de décision</a:t>
            </a:r>
            <a:endParaRPr lang="en-US" sz="1800" spc="-36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6" y="4367396"/>
            <a:ext cx="7602251" cy="4508716"/>
            <a:chOff x="0" y="0"/>
            <a:chExt cx="10136334" cy="60116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36378" cy="6011672"/>
            </a:xfrm>
            <a:custGeom>
              <a:avLst/>
              <a:gdLst/>
              <a:ahLst/>
              <a:cxnLst/>
              <a:rect l="l" t="t" r="r" b="b"/>
              <a:pathLst>
                <a:path w="10136378" h="6011672">
                  <a:moveTo>
                    <a:pt x="0" y="0"/>
                  </a:moveTo>
                  <a:lnTo>
                    <a:pt x="10136378" y="0"/>
                  </a:lnTo>
                  <a:lnTo>
                    <a:pt x="10136378" y="6011672"/>
                  </a:lnTo>
                  <a:lnTo>
                    <a:pt x="0" y="6011672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753066" y="3276353"/>
            <a:ext cx="2182089" cy="2182089"/>
            <a:chOff x="0" y="0"/>
            <a:chExt cx="2909452" cy="29094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09443" cy="2909443"/>
            </a:xfrm>
            <a:custGeom>
              <a:avLst/>
              <a:gdLst/>
              <a:ahLst/>
              <a:cxnLst/>
              <a:rect l="l" t="t" r="r" b="b"/>
              <a:pathLst>
                <a:path w="2909443" h="2909443">
                  <a:moveTo>
                    <a:pt x="0" y="1454785"/>
                  </a:moveTo>
                  <a:lnTo>
                    <a:pt x="1454785" y="0"/>
                  </a:lnTo>
                  <a:lnTo>
                    <a:pt x="2909443" y="1454785"/>
                  </a:lnTo>
                  <a:lnTo>
                    <a:pt x="1454785" y="29094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3839408" y="3362694"/>
            <a:ext cx="2009406" cy="2009406"/>
            <a:chOff x="0" y="0"/>
            <a:chExt cx="2679208" cy="26792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79192" cy="2679192"/>
            </a:xfrm>
            <a:custGeom>
              <a:avLst/>
              <a:gdLst/>
              <a:ahLst/>
              <a:cxnLst/>
              <a:rect l="l" t="t" r="r" b="b"/>
              <a:pathLst>
                <a:path w="2679192" h="2679192">
                  <a:moveTo>
                    <a:pt x="0" y="1339596"/>
                  </a:moveTo>
                  <a:lnTo>
                    <a:pt x="1339596" y="0"/>
                  </a:lnTo>
                  <a:lnTo>
                    <a:pt x="2679192" y="1339596"/>
                  </a:lnTo>
                  <a:lnTo>
                    <a:pt x="1339596" y="2679192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642762" y="4367396"/>
            <a:ext cx="7602250" cy="4508716"/>
            <a:chOff x="0" y="0"/>
            <a:chExt cx="10136334" cy="60116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36378" cy="6011672"/>
            </a:xfrm>
            <a:custGeom>
              <a:avLst/>
              <a:gdLst/>
              <a:ahLst/>
              <a:cxnLst/>
              <a:rect l="l" t="t" r="r" b="b"/>
              <a:pathLst>
                <a:path w="10136378" h="6011672">
                  <a:moveTo>
                    <a:pt x="0" y="0"/>
                  </a:moveTo>
                  <a:lnTo>
                    <a:pt x="10136378" y="0"/>
                  </a:lnTo>
                  <a:lnTo>
                    <a:pt x="10136378" y="6011672"/>
                  </a:lnTo>
                  <a:lnTo>
                    <a:pt x="0" y="6011672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352842" y="3276353"/>
            <a:ext cx="2182089" cy="2182089"/>
            <a:chOff x="0" y="0"/>
            <a:chExt cx="2909452" cy="29094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09443" cy="2909443"/>
            </a:xfrm>
            <a:custGeom>
              <a:avLst/>
              <a:gdLst/>
              <a:ahLst/>
              <a:cxnLst/>
              <a:rect l="l" t="t" r="r" b="b"/>
              <a:pathLst>
                <a:path w="2909443" h="2909443">
                  <a:moveTo>
                    <a:pt x="0" y="1454785"/>
                  </a:moveTo>
                  <a:lnTo>
                    <a:pt x="1454785" y="0"/>
                  </a:lnTo>
                  <a:lnTo>
                    <a:pt x="2909443" y="1454785"/>
                  </a:lnTo>
                  <a:lnTo>
                    <a:pt x="1454785" y="29094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439184" y="3362694"/>
            <a:ext cx="2009406" cy="2009406"/>
            <a:chOff x="0" y="0"/>
            <a:chExt cx="2679208" cy="26792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79192" cy="2679192"/>
            </a:xfrm>
            <a:custGeom>
              <a:avLst/>
              <a:gdLst/>
              <a:ahLst/>
              <a:cxnLst/>
              <a:rect l="l" t="t" r="r" b="b"/>
              <a:pathLst>
                <a:path w="2679192" h="2679192">
                  <a:moveTo>
                    <a:pt x="0" y="1339596"/>
                  </a:moveTo>
                  <a:lnTo>
                    <a:pt x="1339596" y="0"/>
                  </a:lnTo>
                  <a:lnTo>
                    <a:pt x="2679192" y="1339596"/>
                  </a:lnTo>
                  <a:lnTo>
                    <a:pt x="1339596" y="2679192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0" y="519746"/>
            <a:ext cx="14448589" cy="1165718"/>
            <a:chOff x="0" y="0"/>
            <a:chExt cx="19264786" cy="15542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264785" cy="1554226"/>
            </a:xfrm>
            <a:custGeom>
              <a:avLst/>
              <a:gdLst/>
              <a:ahLst/>
              <a:cxnLst/>
              <a:rect l="l" t="t" r="r" b="b"/>
              <a:pathLst>
                <a:path w="19264785" h="1554226">
                  <a:moveTo>
                    <a:pt x="0" y="0"/>
                  </a:moveTo>
                  <a:lnTo>
                    <a:pt x="3885065" y="0"/>
                  </a:lnTo>
                  <a:lnTo>
                    <a:pt x="4109821" y="0"/>
                  </a:lnTo>
                  <a:lnTo>
                    <a:pt x="7697887" y="0"/>
                  </a:lnTo>
                  <a:lnTo>
                    <a:pt x="7994886" y="0"/>
                  </a:lnTo>
                  <a:lnTo>
                    <a:pt x="8853976" y="0"/>
                  </a:lnTo>
                  <a:lnTo>
                    <a:pt x="8885883" y="0"/>
                  </a:lnTo>
                  <a:lnTo>
                    <a:pt x="10041971" y="0"/>
                  </a:lnTo>
                  <a:lnTo>
                    <a:pt x="11582953" y="0"/>
                  </a:lnTo>
                  <a:lnTo>
                    <a:pt x="11807709" y="0"/>
                  </a:lnTo>
                  <a:lnTo>
                    <a:pt x="12739040" y="0"/>
                  </a:lnTo>
                  <a:lnTo>
                    <a:pt x="12770948" y="0"/>
                  </a:lnTo>
                  <a:lnTo>
                    <a:pt x="12963796" y="0"/>
                  </a:lnTo>
                  <a:lnTo>
                    <a:pt x="12995704" y="0"/>
                  </a:lnTo>
                  <a:lnTo>
                    <a:pt x="13927035" y="0"/>
                  </a:lnTo>
                  <a:lnTo>
                    <a:pt x="14151792" y="0"/>
                  </a:lnTo>
                  <a:lnTo>
                    <a:pt x="15692774" y="0"/>
                  </a:lnTo>
                  <a:lnTo>
                    <a:pt x="16848861" y="0"/>
                  </a:lnTo>
                  <a:lnTo>
                    <a:pt x="16880770" y="0"/>
                  </a:lnTo>
                  <a:lnTo>
                    <a:pt x="18036857" y="0"/>
                  </a:lnTo>
                  <a:lnTo>
                    <a:pt x="19264785" y="777113"/>
                  </a:lnTo>
                  <a:lnTo>
                    <a:pt x="18036857" y="1554226"/>
                  </a:lnTo>
                  <a:lnTo>
                    <a:pt x="16880770" y="1554226"/>
                  </a:lnTo>
                  <a:lnTo>
                    <a:pt x="16848861" y="1554226"/>
                  </a:lnTo>
                  <a:lnTo>
                    <a:pt x="15692774" y="1554226"/>
                  </a:lnTo>
                  <a:lnTo>
                    <a:pt x="14151792" y="1554226"/>
                  </a:lnTo>
                  <a:lnTo>
                    <a:pt x="13927035" y="1554226"/>
                  </a:lnTo>
                  <a:lnTo>
                    <a:pt x="12995703" y="1554226"/>
                  </a:lnTo>
                  <a:lnTo>
                    <a:pt x="12963796" y="1554226"/>
                  </a:lnTo>
                  <a:lnTo>
                    <a:pt x="12770947" y="1554226"/>
                  </a:lnTo>
                  <a:lnTo>
                    <a:pt x="12739040" y="1554226"/>
                  </a:lnTo>
                  <a:lnTo>
                    <a:pt x="11807709" y="1554226"/>
                  </a:lnTo>
                  <a:lnTo>
                    <a:pt x="11582953" y="1554226"/>
                  </a:lnTo>
                  <a:lnTo>
                    <a:pt x="10041971" y="1554226"/>
                  </a:lnTo>
                  <a:lnTo>
                    <a:pt x="8885882" y="1554226"/>
                  </a:lnTo>
                  <a:lnTo>
                    <a:pt x="8853975" y="1554226"/>
                  </a:lnTo>
                  <a:lnTo>
                    <a:pt x="7994886" y="1554226"/>
                  </a:lnTo>
                  <a:lnTo>
                    <a:pt x="7697887" y="1554226"/>
                  </a:lnTo>
                  <a:lnTo>
                    <a:pt x="4109821" y="1554226"/>
                  </a:lnTo>
                  <a:lnTo>
                    <a:pt x="3885065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13027762" y="3951272"/>
            <a:ext cx="832250" cy="832250"/>
          </a:xfrm>
          <a:custGeom>
            <a:avLst/>
            <a:gdLst/>
            <a:ahLst/>
            <a:cxnLst/>
            <a:rect l="l" t="t" r="r" b="b"/>
            <a:pathLst>
              <a:path w="832250" h="832250">
                <a:moveTo>
                  <a:pt x="0" y="0"/>
                </a:moveTo>
                <a:lnTo>
                  <a:pt x="832250" y="0"/>
                </a:lnTo>
                <a:lnTo>
                  <a:pt x="832250" y="832250"/>
                </a:lnTo>
                <a:lnTo>
                  <a:pt x="0" y="832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427985" y="3951272"/>
            <a:ext cx="832250" cy="832250"/>
          </a:xfrm>
          <a:custGeom>
            <a:avLst/>
            <a:gdLst/>
            <a:ahLst/>
            <a:cxnLst/>
            <a:rect l="l" t="t" r="r" b="b"/>
            <a:pathLst>
              <a:path w="832250" h="832250">
                <a:moveTo>
                  <a:pt x="0" y="0"/>
                </a:moveTo>
                <a:lnTo>
                  <a:pt x="832251" y="0"/>
                </a:lnTo>
                <a:lnTo>
                  <a:pt x="832251" y="832250"/>
                </a:lnTo>
                <a:lnTo>
                  <a:pt x="0" y="832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997563" y="5895915"/>
            <a:ext cx="569309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Phishing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9851" y="6391305"/>
            <a:ext cx="6925247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35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Création manuelle d’emails par l’attaquant.</a:t>
            </a:r>
          </a:p>
          <a:p>
            <a:pPr marL="431799" lvl="1" indent="-215899" algn="l">
              <a:lnSpc>
                <a:spcPts val="35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Messages souvent génériques, avec fautes ou incohérences.</a:t>
            </a:r>
          </a:p>
          <a:p>
            <a:pPr marL="431799" lvl="1" indent="-215899" algn="l">
              <a:lnSpc>
                <a:spcPts val="35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Volume limité : chaque email nécessite du temps.</a:t>
            </a:r>
          </a:p>
          <a:p>
            <a:pPr marL="431799" lvl="1" indent="-215899" algn="l">
              <a:lnSpc>
                <a:spcPts val="35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Détection humaine plus facile.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97340" y="5895915"/>
            <a:ext cx="569309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Deepfakes / Vishing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09627" y="6391305"/>
            <a:ext cx="7039866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35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Très limité ou inexistant.</a:t>
            </a:r>
          </a:p>
          <a:p>
            <a:pPr marL="431799" lvl="1" indent="-215899" algn="l">
              <a:lnSpc>
                <a:spcPts val="35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Usurpation vocale manuelle (enregistrements ou imitation).</a:t>
            </a:r>
          </a:p>
          <a:p>
            <a:pPr marL="431799" lvl="1" indent="-215899" algn="l">
              <a:lnSpc>
                <a:spcPts val="35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Peu crédible et difficile à produire à grande échelle.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840668"/>
            <a:ext cx="93436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Comment l’IA accélère les attaques 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58466" y="2819769"/>
            <a:ext cx="1396859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Avant l’IA générative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6" y="4367396"/>
            <a:ext cx="7602251" cy="4508716"/>
            <a:chOff x="0" y="0"/>
            <a:chExt cx="10136334" cy="60116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36378" cy="6011672"/>
            </a:xfrm>
            <a:custGeom>
              <a:avLst/>
              <a:gdLst/>
              <a:ahLst/>
              <a:cxnLst/>
              <a:rect l="l" t="t" r="r" b="b"/>
              <a:pathLst>
                <a:path w="10136378" h="6011672">
                  <a:moveTo>
                    <a:pt x="0" y="0"/>
                  </a:moveTo>
                  <a:lnTo>
                    <a:pt x="10136378" y="0"/>
                  </a:lnTo>
                  <a:lnTo>
                    <a:pt x="10136378" y="6011672"/>
                  </a:lnTo>
                  <a:lnTo>
                    <a:pt x="0" y="6011672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753066" y="3276353"/>
            <a:ext cx="2182089" cy="2182089"/>
            <a:chOff x="0" y="0"/>
            <a:chExt cx="2909452" cy="29094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09443" cy="2909443"/>
            </a:xfrm>
            <a:custGeom>
              <a:avLst/>
              <a:gdLst/>
              <a:ahLst/>
              <a:cxnLst/>
              <a:rect l="l" t="t" r="r" b="b"/>
              <a:pathLst>
                <a:path w="2909443" h="2909443">
                  <a:moveTo>
                    <a:pt x="0" y="1454785"/>
                  </a:moveTo>
                  <a:lnTo>
                    <a:pt x="1454785" y="0"/>
                  </a:lnTo>
                  <a:lnTo>
                    <a:pt x="2909443" y="1454785"/>
                  </a:lnTo>
                  <a:lnTo>
                    <a:pt x="1454785" y="29094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3839408" y="3362694"/>
            <a:ext cx="2009406" cy="2009406"/>
            <a:chOff x="0" y="0"/>
            <a:chExt cx="2679208" cy="26792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79192" cy="2679192"/>
            </a:xfrm>
            <a:custGeom>
              <a:avLst/>
              <a:gdLst/>
              <a:ahLst/>
              <a:cxnLst/>
              <a:rect l="l" t="t" r="r" b="b"/>
              <a:pathLst>
                <a:path w="2679192" h="2679192">
                  <a:moveTo>
                    <a:pt x="0" y="1339596"/>
                  </a:moveTo>
                  <a:lnTo>
                    <a:pt x="1339596" y="0"/>
                  </a:lnTo>
                  <a:lnTo>
                    <a:pt x="2679192" y="1339596"/>
                  </a:lnTo>
                  <a:lnTo>
                    <a:pt x="1339596" y="2679192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642762" y="4367396"/>
            <a:ext cx="7602250" cy="4508716"/>
            <a:chOff x="0" y="0"/>
            <a:chExt cx="10136334" cy="60116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36378" cy="6011672"/>
            </a:xfrm>
            <a:custGeom>
              <a:avLst/>
              <a:gdLst/>
              <a:ahLst/>
              <a:cxnLst/>
              <a:rect l="l" t="t" r="r" b="b"/>
              <a:pathLst>
                <a:path w="10136378" h="6011672">
                  <a:moveTo>
                    <a:pt x="0" y="0"/>
                  </a:moveTo>
                  <a:lnTo>
                    <a:pt x="10136378" y="0"/>
                  </a:lnTo>
                  <a:lnTo>
                    <a:pt x="10136378" y="6011672"/>
                  </a:lnTo>
                  <a:lnTo>
                    <a:pt x="0" y="6011672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352842" y="3276353"/>
            <a:ext cx="2182089" cy="2182089"/>
            <a:chOff x="0" y="0"/>
            <a:chExt cx="2909452" cy="29094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09443" cy="2909443"/>
            </a:xfrm>
            <a:custGeom>
              <a:avLst/>
              <a:gdLst/>
              <a:ahLst/>
              <a:cxnLst/>
              <a:rect l="l" t="t" r="r" b="b"/>
              <a:pathLst>
                <a:path w="2909443" h="2909443">
                  <a:moveTo>
                    <a:pt x="0" y="1454785"/>
                  </a:moveTo>
                  <a:lnTo>
                    <a:pt x="1454785" y="0"/>
                  </a:lnTo>
                  <a:lnTo>
                    <a:pt x="2909443" y="1454785"/>
                  </a:lnTo>
                  <a:lnTo>
                    <a:pt x="1454785" y="29094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439184" y="3362694"/>
            <a:ext cx="2009406" cy="2009406"/>
            <a:chOff x="0" y="0"/>
            <a:chExt cx="2679208" cy="26792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79192" cy="2679192"/>
            </a:xfrm>
            <a:custGeom>
              <a:avLst/>
              <a:gdLst/>
              <a:ahLst/>
              <a:cxnLst/>
              <a:rect l="l" t="t" r="r" b="b"/>
              <a:pathLst>
                <a:path w="2679192" h="2679192">
                  <a:moveTo>
                    <a:pt x="0" y="1339596"/>
                  </a:moveTo>
                  <a:lnTo>
                    <a:pt x="1339596" y="0"/>
                  </a:lnTo>
                  <a:lnTo>
                    <a:pt x="2679192" y="1339596"/>
                  </a:lnTo>
                  <a:lnTo>
                    <a:pt x="1339596" y="2679192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0" y="519746"/>
            <a:ext cx="14448589" cy="1165718"/>
            <a:chOff x="0" y="0"/>
            <a:chExt cx="19264786" cy="15542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264785" cy="1554226"/>
            </a:xfrm>
            <a:custGeom>
              <a:avLst/>
              <a:gdLst/>
              <a:ahLst/>
              <a:cxnLst/>
              <a:rect l="l" t="t" r="r" b="b"/>
              <a:pathLst>
                <a:path w="19264785" h="1554226">
                  <a:moveTo>
                    <a:pt x="0" y="0"/>
                  </a:moveTo>
                  <a:lnTo>
                    <a:pt x="3885065" y="0"/>
                  </a:lnTo>
                  <a:lnTo>
                    <a:pt x="4109821" y="0"/>
                  </a:lnTo>
                  <a:lnTo>
                    <a:pt x="7697887" y="0"/>
                  </a:lnTo>
                  <a:lnTo>
                    <a:pt x="7994886" y="0"/>
                  </a:lnTo>
                  <a:lnTo>
                    <a:pt x="8853976" y="0"/>
                  </a:lnTo>
                  <a:lnTo>
                    <a:pt x="8885883" y="0"/>
                  </a:lnTo>
                  <a:lnTo>
                    <a:pt x="10041971" y="0"/>
                  </a:lnTo>
                  <a:lnTo>
                    <a:pt x="11582953" y="0"/>
                  </a:lnTo>
                  <a:lnTo>
                    <a:pt x="11807709" y="0"/>
                  </a:lnTo>
                  <a:lnTo>
                    <a:pt x="12739040" y="0"/>
                  </a:lnTo>
                  <a:lnTo>
                    <a:pt x="12770948" y="0"/>
                  </a:lnTo>
                  <a:lnTo>
                    <a:pt x="12963796" y="0"/>
                  </a:lnTo>
                  <a:lnTo>
                    <a:pt x="12995704" y="0"/>
                  </a:lnTo>
                  <a:lnTo>
                    <a:pt x="13927035" y="0"/>
                  </a:lnTo>
                  <a:lnTo>
                    <a:pt x="14151792" y="0"/>
                  </a:lnTo>
                  <a:lnTo>
                    <a:pt x="15692774" y="0"/>
                  </a:lnTo>
                  <a:lnTo>
                    <a:pt x="16848861" y="0"/>
                  </a:lnTo>
                  <a:lnTo>
                    <a:pt x="16880770" y="0"/>
                  </a:lnTo>
                  <a:lnTo>
                    <a:pt x="18036857" y="0"/>
                  </a:lnTo>
                  <a:lnTo>
                    <a:pt x="19264785" y="777113"/>
                  </a:lnTo>
                  <a:lnTo>
                    <a:pt x="18036857" y="1554226"/>
                  </a:lnTo>
                  <a:lnTo>
                    <a:pt x="16880770" y="1554226"/>
                  </a:lnTo>
                  <a:lnTo>
                    <a:pt x="16848861" y="1554226"/>
                  </a:lnTo>
                  <a:lnTo>
                    <a:pt x="15692774" y="1554226"/>
                  </a:lnTo>
                  <a:lnTo>
                    <a:pt x="14151792" y="1554226"/>
                  </a:lnTo>
                  <a:lnTo>
                    <a:pt x="13927035" y="1554226"/>
                  </a:lnTo>
                  <a:lnTo>
                    <a:pt x="12995703" y="1554226"/>
                  </a:lnTo>
                  <a:lnTo>
                    <a:pt x="12963796" y="1554226"/>
                  </a:lnTo>
                  <a:lnTo>
                    <a:pt x="12770947" y="1554226"/>
                  </a:lnTo>
                  <a:lnTo>
                    <a:pt x="12739040" y="1554226"/>
                  </a:lnTo>
                  <a:lnTo>
                    <a:pt x="11807709" y="1554226"/>
                  </a:lnTo>
                  <a:lnTo>
                    <a:pt x="11582953" y="1554226"/>
                  </a:lnTo>
                  <a:lnTo>
                    <a:pt x="10041971" y="1554226"/>
                  </a:lnTo>
                  <a:lnTo>
                    <a:pt x="8885882" y="1554226"/>
                  </a:lnTo>
                  <a:lnTo>
                    <a:pt x="8853975" y="1554226"/>
                  </a:lnTo>
                  <a:lnTo>
                    <a:pt x="7994886" y="1554226"/>
                  </a:lnTo>
                  <a:lnTo>
                    <a:pt x="7697887" y="1554226"/>
                  </a:lnTo>
                  <a:lnTo>
                    <a:pt x="4109821" y="1554226"/>
                  </a:lnTo>
                  <a:lnTo>
                    <a:pt x="3885065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13027762" y="3951272"/>
            <a:ext cx="832250" cy="832250"/>
          </a:xfrm>
          <a:custGeom>
            <a:avLst/>
            <a:gdLst/>
            <a:ahLst/>
            <a:cxnLst/>
            <a:rect l="l" t="t" r="r" b="b"/>
            <a:pathLst>
              <a:path w="832250" h="832250">
                <a:moveTo>
                  <a:pt x="0" y="0"/>
                </a:moveTo>
                <a:lnTo>
                  <a:pt x="832250" y="0"/>
                </a:lnTo>
                <a:lnTo>
                  <a:pt x="832250" y="832250"/>
                </a:lnTo>
                <a:lnTo>
                  <a:pt x="0" y="832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427985" y="3951272"/>
            <a:ext cx="832250" cy="832250"/>
          </a:xfrm>
          <a:custGeom>
            <a:avLst/>
            <a:gdLst/>
            <a:ahLst/>
            <a:cxnLst/>
            <a:rect l="l" t="t" r="r" b="b"/>
            <a:pathLst>
              <a:path w="832250" h="832250">
                <a:moveTo>
                  <a:pt x="0" y="0"/>
                </a:moveTo>
                <a:lnTo>
                  <a:pt x="832251" y="0"/>
                </a:lnTo>
                <a:lnTo>
                  <a:pt x="832251" y="832250"/>
                </a:lnTo>
                <a:lnTo>
                  <a:pt x="0" y="832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997563" y="5895915"/>
            <a:ext cx="569309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Ingénierie sociale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97563" y="6536029"/>
            <a:ext cx="5406546" cy="1579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Scénarios simples, peu ciblés.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Requiert beaucoup de temps pour convaincre la victime.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97340" y="5800665"/>
            <a:ext cx="569309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Automatisation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96758" y="6391305"/>
            <a:ext cx="5893677" cy="212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Scripts d’attaque simples mais répétitifs.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Faible personnalisation, faible adaptation aux défenses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98824" y="2819769"/>
            <a:ext cx="148282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Avant l’IA générative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840668"/>
            <a:ext cx="93436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Comment l’IA accélère les attaques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6" y="3276353"/>
            <a:ext cx="7105340" cy="2909463"/>
            <a:chOff x="0" y="0"/>
            <a:chExt cx="9473787" cy="38792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741" cy="3879264"/>
            </a:xfrm>
            <a:custGeom>
              <a:avLst/>
              <a:gdLst/>
              <a:ahLst/>
              <a:cxnLst/>
              <a:rect l="l" t="t" r="r" b="b"/>
              <a:pathLst>
                <a:path w="9473741" h="3879264">
                  <a:moveTo>
                    <a:pt x="0" y="0"/>
                  </a:moveTo>
                  <a:lnTo>
                    <a:pt x="9473741" y="0"/>
                  </a:lnTo>
                  <a:lnTo>
                    <a:pt x="9473741" y="3879264"/>
                  </a:lnTo>
                  <a:lnTo>
                    <a:pt x="0" y="3879264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189916" y="3944762"/>
            <a:ext cx="1314003" cy="1314003"/>
            <a:chOff x="0" y="0"/>
            <a:chExt cx="1752004" cy="17520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52092" cy="1752092"/>
            </a:xfrm>
            <a:custGeom>
              <a:avLst/>
              <a:gdLst/>
              <a:ahLst/>
              <a:cxnLst/>
              <a:rect l="l" t="t" r="r" b="b"/>
              <a:pathLst>
                <a:path w="1752092" h="1752092">
                  <a:moveTo>
                    <a:pt x="0" y="876046"/>
                  </a:moveTo>
                  <a:cubicBezTo>
                    <a:pt x="0" y="392176"/>
                    <a:pt x="392176" y="0"/>
                    <a:pt x="876046" y="0"/>
                  </a:cubicBezTo>
                  <a:cubicBezTo>
                    <a:pt x="1359916" y="0"/>
                    <a:pt x="1752092" y="392176"/>
                    <a:pt x="1752092" y="876046"/>
                  </a:cubicBezTo>
                  <a:cubicBezTo>
                    <a:pt x="1752092" y="1359916"/>
                    <a:pt x="1359916" y="1752092"/>
                    <a:pt x="876046" y="1752092"/>
                  </a:cubicBezTo>
                  <a:cubicBezTo>
                    <a:pt x="392176" y="1752092"/>
                    <a:pt x="0" y="1359789"/>
                    <a:pt x="0" y="8760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263616" y="4018462"/>
            <a:ext cx="1166601" cy="1166601"/>
            <a:chOff x="0" y="0"/>
            <a:chExt cx="1555468" cy="15554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5496" cy="1555496"/>
            </a:xfrm>
            <a:custGeom>
              <a:avLst/>
              <a:gdLst/>
              <a:ahLst/>
              <a:cxnLst/>
              <a:rect l="l" t="t" r="r" b="b"/>
              <a:pathLst>
                <a:path w="1555496" h="1555496">
                  <a:moveTo>
                    <a:pt x="0" y="777748"/>
                  </a:moveTo>
                  <a:cubicBezTo>
                    <a:pt x="0" y="348234"/>
                    <a:pt x="348234" y="0"/>
                    <a:pt x="777748" y="0"/>
                  </a:cubicBezTo>
                  <a:cubicBezTo>
                    <a:pt x="1207262" y="0"/>
                    <a:pt x="1555496" y="348234"/>
                    <a:pt x="1555496" y="777748"/>
                  </a:cubicBezTo>
                  <a:cubicBezTo>
                    <a:pt x="1555496" y="1207262"/>
                    <a:pt x="1207262" y="1555496"/>
                    <a:pt x="777748" y="1555496"/>
                  </a:cubicBezTo>
                  <a:cubicBezTo>
                    <a:pt x="348234" y="1555496"/>
                    <a:pt x="0" y="1207262"/>
                    <a:pt x="0" y="777748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42986" y="6481091"/>
            <a:ext cx="7105340" cy="3033008"/>
            <a:chOff x="0" y="0"/>
            <a:chExt cx="9473787" cy="40440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73741" cy="4043989"/>
            </a:xfrm>
            <a:custGeom>
              <a:avLst/>
              <a:gdLst/>
              <a:ahLst/>
              <a:cxnLst/>
              <a:rect l="l" t="t" r="r" b="b"/>
              <a:pathLst>
                <a:path w="9473741" h="4043989">
                  <a:moveTo>
                    <a:pt x="0" y="0"/>
                  </a:moveTo>
                  <a:lnTo>
                    <a:pt x="9473741" y="0"/>
                  </a:lnTo>
                  <a:lnTo>
                    <a:pt x="9473741" y="4043989"/>
                  </a:lnTo>
                  <a:lnTo>
                    <a:pt x="0" y="4043989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189916" y="7149500"/>
            <a:ext cx="1314003" cy="1314003"/>
            <a:chOff x="0" y="0"/>
            <a:chExt cx="1752004" cy="17520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52092" cy="1752092"/>
            </a:xfrm>
            <a:custGeom>
              <a:avLst/>
              <a:gdLst/>
              <a:ahLst/>
              <a:cxnLst/>
              <a:rect l="l" t="t" r="r" b="b"/>
              <a:pathLst>
                <a:path w="1752092" h="1752092">
                  <a:moveTo>
                    <a:pt x="0" y="876046"/>
                  </a:moveTo>
                  <a:cubicBezTo>
                    <a:pt x="0" y="392176"/>
                    <a:pt x="392176" y="0"/>
                    <a:pt x="876046" y="0"/>
                  </a:cubicBezTo>
                  <a:cubicBezTo>
                    <a:pt x="1359916" y="0"/>
                    <a:pt x="1752092" y="392176"/>
                    <a:pt x="1752092" y="876046"/>
                  </a:cubicBezTo>
                  <a:cubicBezTo>
                    <a:pt x="1752092" y="1359916"/>
                    <a:pt x="1359916" y="1752092"/>
                    <a:pt x="876046" y="1752092"/>
                  </a:cubicBezTo>
                  <a:cubicBezTo>
                    <a:pt x="392176" y="1752092"/>
                    <a:pt x="0" y="1359789"/>
                    <a:pt x="0" y="8760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263616" y="7223201"/>
            <a:ext cx="1166601" cy="1166601"/>
            <a:chOff x="0" y="0"/>
            <a:chExt cx="1555468" cy="15554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5496" cy="1555496"/>
            </a:xfrm>
            <a:custGeom>
              <a:avLst/>
              <a:gdLst/>
              <a:ahLst/>
              <a:cxnLst/>
              <a:rect l="l" t="t" r="r" b="b"/>
              <a:pathLst>
                <a:path w="1555496" h="1555496">
                  <a:moveTo>
                    <a:pt x="0" y="777748"/>
                  </a:moveTo>
                  <a:cubicBezTo>
                    <a:pt x="0" y="348234"/>
                    <a:pt x="348234" y="0"/>
                    <a:pt x="777748" y="0"/>
                  </a:cubicBezTo>
                  <a:cubicBezTo>
                    <a:pt x="1207262" y="0"/>
                    <a:pt x="1555496" y="348234"/>
                    <a:pt x="1555496" y="777748"/>
                  </a:cubicBezTo>
                  <a:cubicBezTo>
                    <a:pt x="1555496" y="1207262"/>
                    <a:pt x="1207262" y="1555496"/>
                    <a:pt x="777748" y="1555496"/>
                  </a:cubicBezTo>
                  <a:cubicBezTo>
                    <a:pt x="348234" y="1555496"/>
                    <a:pt x="0" y="1207262"/>
                    <a:pt x="0" y="777748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784084" y="3276353"/>
            <a:ext cx="6803931" cy="2909463"/>
            <a:chOff x="0" y="0"/>
            <a:chExt cx="9071908" cy="38792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071864" cy="3879264"/>
            </a:xfrm>
            <a:custGeom>
              <a:avLst/>
              <a:gdLst/>
              <a:ahLst/>
              <a:cxnLst/>
              <a:rect l="l" t="t" r="r" b="b"/>
              <a:pathLst>
                <a:path w="9071864" h="3879264">
                  <a:moveTo>
                    <a:pt x="0" y="0"/>
                  </a:moveTo>
                  <a:lnTo>
                    <a:pt x="9071864" y="0"/>
                  </a:lnTo>
                  <a:lnTo>
                    <a:pt x="9071864" y="3879264"/>
                  </a:lnTo>
                  <a:lnTo>
                    <a:pt x="0" y="3879264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931014" y="3944762"/>
            <a:ext cx="1314003" cy="1314003"/>
            <a:chOff x="0" y="0"/>
            <a:chExt cx="1752004" cy="17520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52092" cy="1752092"/>
            </a:xfrm>
            <a:custGeom>
              <a:avLst/>
              <a:gdLst/>
              <a:ahLst/>
              <a:cxnLst/>
              <a:rect l="l" t="t" r="r" b="b"/>
              <a:pathLst>
                <a:path w="1752092" h="1752092">
                  <a:moveTo>
                    <a:pt x="0" y="876046"/>
                  </a:moveTo>
                  <a:cubicBezTo>
                    <a:pt x="0" y="392176"/>
                    <a:pt x="392176" y="0"/>
                    <a:pt x="876046" y="0"/>
                  </a:cubicBezTo>
                  <a:cubicBezTo>
                    <a:pt x="1359916" y="0"/>
                    <a:pt x="1752092" y="392176"/>
                    <a:pt x="1752092" y="876046"/>
                  </a:cubicBezTo>
                  <a:cubicBezTo>
                    <a:pt x="1752092" y="1359916"/>
                    <a:pt x="1359916" y="1752092"/>
                    <a:pt x="876046" y="1752092"/>
                  </a:cubicBezTo>
                  <a:cubicBezTo>
                    <a:pt x="392176" y="1752092"/>
                    <a:pt x="0" y="1359789"/>
                    <a:pt x="0" y="8760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6004715" y="4018462"/>
            <a:ext cx="1166601" cy="1166601"/>
            <a:chOff x="0" y="0"/>
            <a:chExt cx="1555468" cy="15554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55496" cy="1555496"/>
            </a:xfrm>
            <a:custGeom>
              <a:avLst/>
              <a:gdLst/>
              <a:ahLst/>
              <a:cxnLst/>
              <a:rect l="l" t="t" r="r" b="b"/>
              <a:pathLst>
                <a:path w="1555496" h="1555496">
                  <a:moveTo>
                    <a:pt x="0" y="777748"/>
                  </a:moveTo>
                  <a:cubicBezTo>
                    <a:pt x="0" y="348234"/>
                    <a:pt x="348234" y="0"/>
                    <a:pt x="777748" y="0"/>
                  </a:cubicBezTo>
                  <a:cubicBezTo>
                    <a:pt x="1207262" y="0"/>
                    <a:pt x="1555496" y="348234"/>
                    <a:pt x="1555496" y="777748"/>
                  </a:cubicBezTo>
                  <a:cubicBezTo>
                    <a:pt x="1555496" y="1207262"/>
                    <a:pt x="1207262" y="1555496"/>
                    <a:pt x="777748" y="1555496"/>
                  </a:cubicBezTo>
                  <a:cubicBezTo>
                    <a:pt x="348234" y="1555496"/>
                    <a:pt x="0" y="1207262"/>
                    <a:pt x="0" y="777748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784084" y="6481091"/>
            <a:ext cx="6803931" cy="3033008"/>
            <a:chOff x="0" y="0"/>
            <a:chExt cx="9071908" cy="404401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071864" cy="4043989"/>
            </a:xfrm>
            <a:custGeom>
              <a:avLst/>
              <a:gdLst/>
              <a:ahLst/>
              <a:cxnLst/>
              <a:rect l="l" t="t" r="r" b="b"/>
              <a:pathLst>
                <a:path w="9071864" h="4043989">
                  <a:moveTo>
                    <a:pt x="0" y="0"/>
                  </a:moveTo>
                  <a:lnTo>
                    <a:pt x="9071864" y="0"/>
                  </a:lnTo>
                  <a:lnTo>
                    <a:pt x="9071864" y="4043989"/>
                  </a:lnTo>
                  <a:lnTo>
                    <a:pt x="0" y="4043989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5931014" y="7149500"/>
            <a:ext cx="1314003" cy="1314003"/>
            <a:chOff x="0" y="0"/>
            <a:chExt cx="1752004" cy="17520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52092" cy="1752092"/>
            </a:xfrm>
            <a:custGeom>
              <a:avLst/>
              <a:gdLst/>
              <a:ahLst/>
              <a:cxnLst/>
              <a:rect l="l" t="t" r="r" b="b"/>
              <a:pathLst>
                <a:path w="1752092" h="1752092">
                  <a:moveTo>
                    <a:pt x="0" y="876046"/>
                  </a:moveTo>
                  <a:cubicBezTo>
                    <a:pt x="0" y="392176"/>
                    <a:pt x="392176" y="0"/>
                    <a:pt x="876046" y="0"/>
                  </a:cubicBezTo>
                  <a:cubicBezTo>
                    <a:pt x="1359916" y="0"/>
                    <a:pt x="1752092" y="392176"/>
                    <a:pt x="1752092" y="876046"/>
                  </a:cubicBezTo>
                  <a:cubicBezTo>
                    <a:pt x="1752092" y="1359916"/>
                    <a:pt x="1359916" y="1752092"/>
                    <a:pt x="876046" y="1752092"/>
                  </a:cubicBezTo>
                  <a:cubicBezTo>
                    <a:pt x="392176" y="1752092"/>
                    <a:pt x="0" y="1359789"/>
                    <a:pt x="0" y="8760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6004715" y="7223201"/>
            <a:ext cx="1166601" cy="1166601"/>
            <a:chOff x="0" y="0"/>
            <a:chExt cx="1555468" cy="15554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55496" cy="1555496"/>
            </a:xfrm>
            <a:custGeom>
              <a:avLst/>
              <a:gdLst/>
              <a:ahLst/>
              <a:cxnLst/>
              <a:rect l="l" t="t" r="r" b="b"/>
              <a:pathLst>
                <a:path w="1555496" h="1555496">
                  <a:moveTo>
                    <a:pt x="0" y="777748"/>
                  </a:moveTo>
                  <a:cubicBezTo>
                    <a:pt x="0" y="348234"/>
                    <a:pt x="348234" y="0"/>
                    <a:pt x="777748" y="0"/>
                  </a:cubicBezTo>
                  <a:cubicBezTo>
                    <a:pt x="1207262" y="0"/>
                    <a:pt x="1555496" y="348234"/>
                    <a:pt x="1555496" y="777748"/>
                  </a:cubicBezTo>
                  <a:cubicBezTo>
                    <a:pt x="1555496" y="1207262"/>
                    <a:pt x="1207262" y="1555496"/>
                    <a:pt x="777748" y="1555496"/>
                  </a:cubicBezTo>
                  <a:cubicBezTo>
                    <a:pt x="348234" y="1555496"/>
                    <a:pt x="0" y="1207262"/>
                    <a:pt x="0" y="777748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6286606" y="7505092"/>
            <a:ext cx="602818" cy="602818"/>
          </a:xfrm>
          <a:custGeom>
            <a:avLst/>
            <a:gdLst/>
            <a:ahLst/>
            <a:cxnLst/>
            <a:rect l="l" t="t" r="r" b="b"/>
            <a:pathLst>
              <a:path w="602818" h="602818">
                <a:moveTo>
                  <a:pt x="0" y="0"/>
                </a:moveTo>
                <a:lnTo>
                  <a:pt x="602819" y="0"/>
                </a:lnTo>
                <a:lnTo>
                  <a:pt x="602819" y="602818"/>
                </a:lnTo>
                <a:lnTo>
                  <a:pt x="0" y="602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6286606" y="4300354"/>
            <a:ext cx="602818" cy="602818"/>
          </a:xfrm>
          <a:custGeom>
            <a:avLst/>
            <a:gdLst/>
            <a:ahLst/>
            <a:cxnLst/>
            <a:rect l="l" t="t" r="r" b="b"/>
            <a:pathLst>
              <a:path w="602818" h="602818">
                <a:moveTo>
                  <a:pt x="0" y="0"/>
                </a:moveTo>
                <a:lnTo>
                  <a:pt x="602819" y="0"/>
                </a:lnTo>
                <a:lnTo>
                  <a:pt x="602819" y="602818"/>
                </a:lnTo>
                <a:lnTo>
                  <a:pt x="0" y="602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7545508" y="7505092"/>
            <a:ext cx="602818" cy="602818"/>
          </a:xfrm>
          <a:custGeom>
            <a:avLst/>
            <a:gdLst/>
            <a:ahLst/>
            <a:cxnLst/>
            <a:rect l="l" t="t" r="r" b="b"/>
            <a:pathLst>
              <a:path w="602818" h="602818">
                <a:moveTo>
                  <a:pt x="0" y="0"/>
                </a:moveTo>
                <a:lnTo>
                  <a:pt x="602818" y="0"/>
                </a:lnTo>
                <a:lnTo>
                  <a:pt x="602818" y="602818"/>
                </a:lnTo>
                <a:lnTo>
                  <a:pt x="0" y="602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545508" y="4300354"/>
            <a:ext cx="602818" cy="602818"/>
          </a:xfrm>
          <a:custGeom>
            <a:avLst/>
            <a:gdLst/>
            <a:ahLst/>
            <a:cxnLst/>
            <a:rect l="l" t="t" r="r" b="b"/>
            <a:pathLst>
              <a:path w="602818" h="602818">
                <a:moveTo>
                  <a:pt x="0" y="0"/>
                </a:moveTo>
                <a:lnTo>
                  <a:pt x="602818" y="0"/>
                </a:lnTo>
                <a:lnTo>
                  <a:pt x="602818" y="602818"/>
                </a:lnTo>
                <a:lnTo>
                  <a:pt x="0" y="6028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351821" y="3551111"/>
            <a:ext cx="598433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Phishing hyper-personnalisé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51819" y="4046501"/>
            <a:ext cx="6193688" cy="201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 spc="-5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Génération instantanée de centaines ou milliers d’emails.</a:t>
            </a: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 spc="-5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Adaptation au profil de la victime : poste, style, langage, culture.</a:t>
            </a: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 spc="-5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Messages parfaits, sans fautes, très crédibles.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92919" y="3551111"/>
            <a:ext cx="619368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Automatisation intelligente 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92918" y="4046501"/>
            <a:ext cx="5529262" cy="160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Génération de scripts d’attaque adaptés aux systèmes ciblés.</a:t>
            </a: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Capacité d’apprendre des défenses et de créer des variantes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51821" y="6755849"/>
            <a:ext cx="591179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Deepfakes vocaux et vidéo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51819" y="7251239"/>
            <a:ext cx="5984340" cy="201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Clonage de voix ou de visage en quelques secondes.</a:t>
            </a: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Utilisé pour vishing ou fraude au président.</a:t>
            </a: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 victimes ne peuvent pas distinguer la vraie voix ou vidéo.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92919" y="6755849"/>
            <a:ext cx="679650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Ingénierie sociale augmentée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92918" y="7251239"/>
            <a:ext cx="5529262" cy="160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Scénarios complexes, convaincants et personnalisés.</a:t>
            </a: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L’IA peut simuler des conversations complètes pour manipuler la cible.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59781" y="2346825"/>
            <a:ext cx="148282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Avec l’IA : cyberattaques augmentées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0" y="519746"/>
            <a:ext cx="14448589" cy="1165718"/>
            <a:chOff x="0" y="0"/>
            <a:chExt cx="19264786" cy="155429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264785" cy="1554226"/>
            </a:xfrm>
            <a:custGeom>
              <a:avLst/>
              <a:gdLst/>
              <a:ahLst/>
              <a:cxnLst/>
              <a:rect l="l" t="t" r="r" b="b"/>
              <a:pathLst>
                <a:path w="19264785" h="1554226">
                  <a:moveTo>
                    <a:pt x="0" y="0"/>
                  </a:moveTo>
                  <a:lnTo>
                    <a:pt x="3885065" y="0"/>
                  </a:lnTo>
                  <a:lnTo>
                    <a:pt x="4109821" y="0"/>
                  </a:lnTo>
                  <a:lnTo>
                    <a:pt x="7697887" y="0"/>
                  </a:lnTo>
                  <a:lnTo>
                    <a:pt x="7994886" y="0"/>
                  </a:lnTo>
                  <a:lnTo>
                    <a:pt x="8853976" y="0"/>
                  </a:lnTo>
                  <a:lnTo>
                    <a:pt x="8885883" y="0"/>
                  </a:lnTo>
                  <a:lnTo>
                    <a:pt x="10041971" y="0"/>
                  </a:lnTo>
                  <a:lnTo>
                    <a:pt x="11582953" y="0"/>
                  </a:lnTo>
                  <a:lnTo>
                    <a:pt x="11807709" y="0"/>
                  </a:lnTo>
                  <a:lnTo>
                    <a:pt x="12739040" y="0"/>
                  </a:lnTo>
                  <a:lnTo>
                    <a:pt x="12770948" y="0"/>
                  </a:lnTo>
                  <a:lnTo>
                    <a:pt x="12963796" y="0"/>
                  </a:lnTo>
                  <a:lnTo>
                    <a:pt x="12995704" y="0"/>
                  </a:lnTo>
                  <a:lnTo>
                    <a:pt x="13927035" y="0"/>
                  </a:lnTo>
                  <a:lnTo>
                    <a:pt x="14151792" y="0"/>
                  </a:lnTo>
                  <a:lnTo>
                    <a:pt x="15692774" y="0"/>
                  </a:lnTo>
                  <a:lnTo>
                    <a:pt x="16848861" y="0"/>
                  </a:lnTo>
                  <a:lnTo>
                    <a:pt x="16880770" y="0"/>
                  </a:lnTo>
                  <a:lnTo>
                    <a:pt x="18036857" y="0"/>
                  </a:lnTo>
                  <a:lnTo>
                    <a:pt x="19264785" y="777113"/>
                  </a:lnTo>
                  <a:lnTo>
                    <a:pt x="18036857" y="1554226"/>
                  </a:lnTo>
                  <a:lnTo>
                    <a:pt x="16880770" y="1554226"/>
                  </a:lnTo>
                  <a:lnTo>
                    <a:pt x="16848861" y="1554226"/>
                  </a:lnTo>
                  <a:lnTo>
                    <a:pt x="15692774" y="1554226"/>
                  </a:lnTo>
                  <a:lnTo>
                    <a:pt x="14151792" y="1554226"/>
                  </a:lnTo>
                  <a:lnTo>
                    <a:pt x="13927035" y="1554226"/>
                  </a:lnTo>
                  <a:lnTo>
                    <a:pt x="12995703" y="1554226"/>
                  </a:lnTo>
                  <a:lnTo>
                    <a:pt x="12963796" y="1554226"/>
                  </a:lnTo>
                  <a:lnTo>
                    <a:pt x="12770947" y="1554226"/>
                  </a:lnTo>
                  <a:lnTo>
                    <a:pt x="12739040" y="1554226"/>
                  </a:lnTo>
                  <a:lnTo>
                    <a:pt x="11807709" y="1554226"/>
                  </a:lnTo>
                  <a:lnTo>
                    <a:pt x="11582953" y="1554226"/>
                  </a:lnTo>
                  <a:lnTo>
                    <a:pt x="10041971" y="1554226"/>
                  </a:lnTo>
                  <a:lnTo>
                    <a:pt x="8885882" y="1554226"/>
                  </a:lnTo>
                  <a:lnTo>
                    <a:pt x="8853975" y="1554226"/>
                  </a:lnTo>
                  <a:lnTo>
                    <a:pt x="7994886" y="1554226"/>
                  </a:lnTo>
                  <a:lnTo>
                    <a:pt x="7697887" y="1554226"/>
                  </a:lnTo>
                  <a:lnTo>
                    <a:pt x="4109821" y="1554226"/>
                  </a:lnTo>
                  <a:lnTo>
                    <a:pt x="3885065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028700" y="840668"/>
            <a:ext cx="93436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Comment l’IA accélère les attaques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5" y="3276350"/>
            <a:ext cx="4651231" cy="5599762"/>
            <a:chOff x="0" y="0"/>
            <a:chExt cx="6201642" cy="7466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1664" cy="7466330"/>
            </a:xfrm>
            <a:custGeom>
              <a:avLst/>
              <a:gdLst/>
              <a:ahLst/>
              <a:cxnLst/>
              <a:rect l="l" t="t" r="r" b="b"/>
              <a:pathLst>
                <a:path w="6201664" h="7466330">
                  <a:moveTo>
                    <a:pt x="0" y="0"/>
                  </a:moveTo>
                  <a:lnTo>
                    <a:pt x="6201664" y="0"/>
                  </a:lnTo>
                  <a:lnTo>
                    <a:pt x="6201664" y="7466330"/>
                  </a:lnTo>
                  <a:lnTo>
                    <a:pt x="0" y="7466330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93787" y="3276350"/>
            <a:ext cx="4651232" cy="5599762"/>
            <a:chOff x="0" y="0"/>
            <a:chExt cx="6201642" cy="74663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01664" cy="7466330"/>
            </a:xfrm>
            <a:custGeom>
              <a:avLst/>
              <a:gdLst/>
              <a:ahLst/>
              <a:cxnLst/>
              <a:rect l="l" t="t" r="r" b="b"/>
              <a:pathLst>
                <a:path w="6201664" h="7466330">
                  <a:moveTo>
                    <a:pt x="0" y="0"/>
                  </a:moveTo>
                  <a:lnTo>
                    <a:pt x="6201664" y="0"/>
                  </a:lnTo>
                  <a:lnTo>
                    <a:pt x="6201664" y="7466330"/>
                  </a:lnTo>
                  <a:lnTo>
                    <a:pt x="0" y="7466330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818385" y="3276350"/>
            <a:ext cx="4651232" cy="5599762"/>
            <a:chOff x="0" y="0"/>
            <a:chExt cx="6201642" cy="74663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01664" cy="7466330"/>
            </a:xfrm>
            <a:custGeom>
              <a:avLst/>
              <a:gdLst/>
              <a:ahLst/>
              <a:cxnLst/>
              <a:rect l="l" t="t" r="r" b="b"/>
              <a:pathLst>
                <a:path w="6201664" h="7466330">
                  <a:moveTo>
                    <a:pt x="0" y="0"/>
                  </a:moveTo>
                  <a:lnTo>
                    <a:pt x="6201664" y="0"/>
                  </a:lnTo>
                  <a:lnTo>
                    <a:pt x="6201664" y="7466330"/>
                  </a:lnTo>
                  <a:lnTo>
                    <a:pt x="0" y="7466330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519746"/>
            <a:ext cx="14916760" cy="1165718"/>
            <a:chOff x="0" y="0"/>
            <a:chExt cx="19889013" cy="15542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889012" cy="1554226"/>
            </a:xfrm>
            <a:custGeom>
              <a:avLst/>
              <a:gdLst/>
              <a:ahLst/>
              <a:cxnLst/>
              <a:rect l="l" t="t" r="r" b="b"/>
              <a:pathLst>
                <a:path w="19889012" h="1554226">
                  <a:moveTo>
                    <a:pt x="0" y="0"/>
                  </a:moveTo>
                  <a:lnTo>
                    <a:pt x="4010951" y="0"/>
                  </a:lnTo>
                  <a:lnTo>
                    <a:pt x="4242989" y="0"/>
                  </a:lnTo>
                  <a:lnTo>
                    <a:pt x="7947318" y="0"/>
                  </a:lnTo>
                  <a:lnTo>
                    <a:pt x="8253940" y="0"/>
                  </a:lnTo>
                  <a:lnTo>
                    <a:pt x="9140867" y="0"/>
                  </a:lnTo>
                  <a:lnTo>
                    <a:pt x="9173807" y="0"/>
                  </a:lnTo>
                  <a:lnTo>
                    <a:pt x="10367356" y="0"/>
                  </a:lnTo>
                  <a:lnTo>
                    <a:pt x="11958269" y="0"/>
                  </a:lnTo>
                  <a:lnTo>
                    <a:pt x="12190308" y="0"/>
                  </a:lnTo>
                  <a:lnTo>
                    <a:pt x="13151817" y="0"/>
                  </a:lnTo>
                  <a:lnTo>
                    <a:pt x="13184758" y="0"/>
                  </a:lnTo>
                  <a:lnTo>
                    <a:pt x="13383856" y="0"/>
                  </a:lnTo>
                  <a:lnTo>
                    <a:pt x="13416798" y="0"/>
                  </a:lnTo>
                  <a:lnTo>
                    <a:pt x="14378307" y="0"/>
                  </a:lnTo>
                  <a:lnTo>
                    <a:pt x="14610345" y="0"/>
                  </a:lnTo>
                  <a:lnTo>
                    <a:pt x="16201259" y="0"/>
                  </a:lnTo>
                  <a:lnTo>
                    <a:pt x="17394806" y="0"/>
                  </a:lnTo>
                  <a:lnTo>
                    <a:pt x="17427749" y="0"/>
                  </a:lnTo>
                  <a:lnTo>
                    <a:pt x="18621296" y="0"/>
                  </a:lnTo>
                  <a:lnTo>
                    <a:pt x="19889012" y="777113"/>
                  </a:lnTo>
                  <a:lnTo>
                    <a:pt x="18621296" y="1554226"/>
                  </a:lnTo>
                  <a:lnTo>
                    <a:pt x="17427749" y="1554226"/>
                  </a:lnTo>
                  <a:lnTo>
                    <a:pt x="17394806" y="1554226"/>
                  </a:lnTo>
                  <a:lnTo>
                    <a:pt x="16201259" y="1554226"/>
                  </a:lnTo>
                  <a:lnTo>
                    <a:pt x="14610345" y="1554226"/>
                  </a:lnTo>
                  <a:lnTo>
                    <a:pt x="14378307" y="1554226"/>
                  </a:lnTo>
                  <a:lnTo>
                    <a:pt x="13416797" y="1554226"/>
                  </a:lnTo>
                  <a:lnTo>
                    <a:pt x="13383854" y="1554226"/>
                  </a:lnTo>
                  <a:lnTo>
                    <a:pt x="13184758" y="1554226"/>
                  </a:lnTo>
                  <a:lnTo>
                    <a:pt x="13151817" y="1554226"/>
                  </a:lnTo>
                  <a:lnTo>
                    <a:pt x="12190308" y="1554226"/>
                  </a:lnTo>
                  <a:lnTo>
                    <a:pt x="11958269" y="1554226"/>
                  </a:lnTo>
                  <a:lnTo>
                    <a:pt x="10367356" y="1554226"/>
                  </a:lnTo>
                  <a:lnTo>
                    <a:pt x="9173807" y="1554226"/>
                  </a:lnTo>
                  <a:lnTo>
                    <a:pt x="9140866" y="1554226"/>
                  </a:lnTo>
                  <a:lnTo>
                    <a:pt x="8253940" y="1554226"/>
                  </a:lnTo>
                  <a:lnTo>
                    <a:pt x="7947318" y="1554226"/>
                  </a:lnTo>
                  <a:lnTo>
                    <a:pt x="4242989" y="1554226"/>
                  </a:lnTo>
                  <a:lnTo>
                    <a:pt x="4010951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4497219" y="4045505"/>
            <a:ext cx="844366" cy="1025168"/>
          </a:xfrm>
          <a:custGeom>
            <a:avLst/>
            <a:gdLst/>
            <a:ahLst/>
            <a:cxnLst/>
            <a:rect l="l" t="t" r="r" b="b"/>
            <a:pathLst>
              <a:path w="844366" h="1025168">
                <a:moveTo>
                  <a:pt x="0" y="0"/>
                </a:moveTo>
                <a:lnTo>
                  <a:pt x="844366" y="0"/>
                </a:lnTo>
                <a:lnTo>
                  <a:pt x="844366" y="1025168"/>
                </a:lnTo>
                <a:lnTo>
                  <a:pt x="0" y="1025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33870" y="3772526"/>
            <a:ext cx="42605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KnowBe4 - 2025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16058" y="3772526"/>
            <a:ext cx="445588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chemeClr val="bg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B2B Cyber Security+1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88816" y="3772526"/>
            <a:ext cx="445588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chemeClr val="bg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Kaspersky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3870" y="4372691"/>
            <a:ext cx="4260540" cy="3750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Selon le rapport 2025 KnowBe4, le volume des emails de phishing a augmenté de </a:t>
            </a:r>
            <a:r>
              <a:rPr lang="en-US" sz="2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15,2 % entre mars 2025</a:t>
            </a: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 fin septembre 2025,</a:t>
            </a: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comparé aux six mois précédents.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13731" y="4372691"/>
            <a:ext cx="4260540" cy="429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Une autre source indique qu’entre le 15 septembre 2024 et le 14 février 2025, le nombre d’emails d’hameçonnage a augmenté de 17,3 % par rapport aux six mois antérieurs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86490" y="4372691"/>
            <a:ext cx="4260540" cy="429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 2024, le fournisseur de cybersécurité Kaspersky rapporte avoir bloqué près de </a:t>
            </a:r>
            <a:r>
              <a:rPr lang="en-US" sz="2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900 millions de tentatives de phishing</a:t>
            </a: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 un volume très élevé qui illustre la massification du phénomène.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59781" y="2346825"/>
            <a:ext cx="148282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Explosion des volumes d’attaques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840668"/>
            <a:ext cx="1024557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2025 : Attaques amplifiées par l’IA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5" y="3276349"/>
            <a:ext cx="16216316" cy="5580784"/>
            <a:chOff x="0" y="0"/>
            <a:chExt cx="21621754" cy="74410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21776" cy="7441026"/>
            </a:xfrm>
            <a:custGeom>
              <a:avLst/>
              <a:gdLst/>
              <a:ahLst/>
              <a:cxnLst/>
              <a:rect l="l" t="t" r="r" b="b"/>
              <a:pathLst>
                <a:path w="21621776" h="7441026">
                  <a:moveTo>
                    <a:pt x="0" y="0"/>
                  </a:moveTo>
                  <a:lnTo>
                    <a:pt x="21621776" y="0"/>
                  </a:lnTo>
                  <a:lnTo>
                    <a:pt x="21621776" y="7441026"/>
                  </a:lnTo>
                  <a:lnTo>
                    <a:pt x="0" y="7441026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19746"/>
            <a:ext cx="15763248" cy="1165718"/>
            <a:chOff x="0" y="0"/>
            <a:chExt cx="21017664" cy="15542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17664" cy="1554226"/>
            </a:xfrm>
            <a:custGeom>
              <a:avLst/>
              <a:gdLst/>
              <a:ahLst/>
              <a:cxnLst/>
              <a:rect l="l" t="t" r="r" b="b"/>
              <a:pathLst>
                <a:path w="21017664" h="1554226">
                  <a:moveTo>
                    <a:pt x="0" y="0"/>
                  </a:moveTo>
                  <a:lnTo>
                    <a:pt x="4238562" y="0"/>
                  </a:lnTo>
                  <a:lnTo>
                    <a:pt x="4483768" y="0"/>
                  </a:lnTo>
                  <a:lnTo>
                    <a:pt x="8398308" y="0"/>
                  </a:lnTo>
                  <a:lnTo>
                    <a:pt x="8722330" y="0"/>
                  </a:lnTo>
                  <a:lnTo>
                    <a:pt x="9659587" y="0"/>
                  </a:lnTo>
                  <a:lnTo>
                    <a:pt x="9694397" y="0"/>
                  </a:lnTo>
                  <a:lnTo>
                    <a:pt x="10955676" y="0"/>
                  </a:lnTo>
                  <a:lnTo>
                    <a:pt x="12636871" y="0"/>
                  </a:lnTo>
                  <a:lnTo>
                    <a:pt x="12882077" y="0"/>
                  </a:lnTo>
                  <a:lnTo>
                    <a:pt x="13898149" y="0"/>
                  </a:lnTo>
                  <a:lnTo>
                    <a:pt x="13932960" y="0"/>
                  </a:lnTo>
                  <a:lnTo>
                    <a:pt x="14143355" y="0"/>
                  </a:lnTo>
                  <a:lnTo>
                    <a:pt x="14178167" y="0"/>
                  </a:lnTo>
                  <a:lnTo>
                    <a:pt x="15194238" y="0"/>
                  </a:lnTo>
                  <a:lnTo>
                    <a:pt x="15439445" y="0"/>
                  </a:lnTo>
                  <a:lnTo>
                    <a:pt x="17120639" y="0"/>
                  </a:lnTo>
                  <a:lnTo>
                    <a:pt x="18381917" y="0"/>
                  </a:lnTo>
                  <a:lnTo>
                    <a:pt x="18416729" y="0"/>
                  </a:lnTo>
                  <a:lnTo>
                    <a:pt x="19678007" y="0"/>
                  </a:lnTo>
                  <a:lnTo>
                    <a:pt x="21017664" y="777113"/>
                  </a:lnTo>
                  <a:lnTo>
                    <a:pt x="19678007" y="1554226"/>
                  </a:lnTo>
                  <a:lnTo>
                    <a:pt x="18416729" y="1554226"/>
                  </a:lnTo>
                  <a:lnTo>
                    <a:pt x="18381917" y="1554226"/>
                  </a:lnTo>
                  <a:lnTo>
                    <a:pt x="17120639" y="1554226"/>
                  </a:lnTo>
                  <a:lnTo>
                    <a:pt x="15439445" y="1554226"/>
                  </a:lnTo>
                  <a:lnTo>
                    <a:pt x="15194238" y="1554226"/>
                  </a:lnTo>
                  <a:lnTo>
                    <a:pt x="14178166" y="1554226"/>
                  </a:lnTo>
                  <a:lnTo>
                    <a:pt x="14143354" y="1554226"/>
                  </a:lnTo>
                  <a:lnTo>
                    <a:pt x="13932959" y="1554226"/>
                  </a:lnTo>
                  <a:lnTo>
                    <a:pt x="13898149" y="1554226"/>
                  </a:lnTo>
                  <a:lnTo>
                    <a:pt x="12882077" y="1554226"/>
                  </a:lnTo>
                  <a:lnTo>
                    <a:pt x="12636871" y="1554226"/>
                  </a:lnTo>
                  <a:lnTo>
                    <a:pt x="10955676" y="1554226"/>
                  </a:lnTo>
                  <a:lnTo>
                    <a:pt x="9694397" y="1554226"/>
                  </a:lnTo>
                  <a:lnTo>
                    <a:pt x="9659586" y="1554226"/>
                  </a:lnTo>
                  <a:lnTo>
                    <a:pt x="8722330" y="1554226"/>
                  </a:lnTo>
                  <a:lnTo>
                    <a:pt x="8398308" y="1554226"/>
                  </a:lnTo>
                  <a:lnTo>
                    <a:pt x="4483768" y="1554226"/>
                  </a:lnTo>
                  <a:lnTo>
                    <a:pt x="4238562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33870" y="3575550"/>
            <a:ext cx="15124907" cy="4836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Récolter automatique des informations :  LinkedIn, Facebook, postures, publications, ; analyser ces données en quelques secondes pour en déduire : le ton à utiliser, le type de relation les sujets sensibles (projets, collaborateurs, déplacements…)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messages parfaitement adaptés </a:t>
            </a: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un email qui cite un événement réel, un message WhatsApp avec le “langage habituel” d’un collègue ; une demande d’argent urgente avec le style du DG, un SMS imitant un banquier local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Ajustement automatique en temps réel</a:t>
            </a: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 Avec des agents IA, l’attaquant peut “dialoguer” avec la victime : ·Si la victime doute, l’IA ajuste la réponse. ·Si la victime demande une précision, l’IA en génère une, Si la victime hésite,  l’IA crée un sentiment d’urgence.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9781" y="2346825"/>
            <a:ext cx="148282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Hyper-personnalisation et crédibilité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6308" y="8887777"/>
            <a:ext cx="16177619" cy="103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Selon IBM (2024), Taux de réussite des attaques impersonnelles classiques : 3 à 5 %.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Les attaques personnalisées montent à 30 – 50 % dans certains cas (spear-phishing).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40668"/>
            <a:ext cx="1024557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2025 : Attaques amplifiées par l’IA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5" y="3276350"/>
            <a:ext cx="4651231" cy="5599762"/>
            <a:chOff x="0" y="0"/>
            <a:chExt cx="6201642" cy="7466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1664" cy="7466330"/>
            </a:xfrm>
            <a:custGeom>
              <a:avLst/>
              <a:gdLst/>
              <a:ahLst/>
              <a:cxnLst/>
              <a:rect l="l" t="t" r="r" b="b"/>
              <a:pathLst>
                <a:path w="6201664" h="7466330">
                  <a:moveTo>
                    <a:pt x="0" y="0"/>
                  </a:moveTo>
                  <a:lnTo>
                    <a:pt x="6201664" y="0"/>
                  </a:lnTo>
                  <a:lnTo>
                    <a:pt x="6201664" y="7466330"/>
                  </a:lnTo>
                  <a:lnTo>
                    <a:pt x="0" y="7466330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93787" y="3276350"/>
            <a:ext cx="4651232" cy="5599762"/>
            <a:chOff x="0" y="0"/>
            <a:chExt cx="6201642" cy="74663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01664" cy="7466330"/>
            </a:xfrm>
            <a:custGeom>
              <a:avLst/>
              <a:gdLst/>
              <a:ahLst/>
              <a:cxnLst/>
              <a:rect l="l" t="t" r="r" b="b"/>
              <a:pathLst>
                <a:path w="6201664" h="7466330">
                  <a:moveTo>
                    <a:pt x="0" y="0"/>
                  </a:moveTo>
                  <a:lnTo>
                    <a:pt x="6201664" y="0"/>
                  </a:lnTo>
                  <a:lnTo>
                    <a:pt x="6201664" y="7466330"/>
                  </a:lnTo>
                  <a:lnTo>
                    <a:pt x="0" y="7466330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818385" y="3276350"/>
            <a:ext cx="4651232" cy="5599762"/>
            <a:chOff x="0" y="0"/>
            <a:chExt cx="6201642" cy="74663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01664" cy="7466330"/>
            </a:xfrm>
            <a:custGeom>
              <a:avLst/>
              <a:gdLst/>
              <a:ahLst/>
              <a:cxnLst/>
              <a:rect l="l" t="t" r="r" b="b"/>
              <a:pathLst>
                <a:path w="6201664" h="7466330">
                  <a:moveTo>
                    <a:pt x="0" y="0"/>
                  </a:moveTo>
                  <a:lnTo>
                    <a:pt x="6201664" y="0"/>
                  </a:lnTo>
                  <a:lnTo>
                    <a:pt x="6201664" y="7466330"/>
                  </a:lnTo>
                  <a:lnTo>
                    <a:pt x="0" y="7466330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519746"/>
            <a:ext cx="14916760" cy="1165718"/>
            <a:chOff x="0" y="0"/>
            <a:chExt cx="19889013" cy="15542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889012" cy="1554226"/>
            </a:xfrm>
            <a:custGeom>
              <a:avLst/>
              <a:gdLst/>
              <a:ahLst/>
              <a:cxnLst/>
              <a:rect l="l" t="t" r="r" b="b"/>
              <a:pathLst>
                <a:path w="19889012" h="1554226">
                  <a:moveTo>
                    <a:pt x="0" y="0"/>
                  </a:moveTo>
                  <a:lnTo>
                    <a:pt x="4010951" y="0"/>
                  </a:lnTo>
                  <a:lnTo>
                    <a:pt x="4242989" y="0"/>
                  </a:lnTo>
                  <a:lnTo>
                    <a:pt x="7947318" y="0"/>
                  </a:lnTo>
                  <a:lnTo>
                    <a:pt x="8253940" y="0"/>
                  </a:lnTo>
                  <a:lnTo>
                    <a:pt x="9140867" y="0"/>
                  </a:lnTo>
                  <a:lnTo>
                    <a:pt x="9173807" y="0"/>
                  </a:lnTo>
                  <a:lnTo>
                    <a:pt x="10367356" y="0"/>
                  </a:lnTo>
                  <a:lnTo>
                    <a:pt x="11958269" y="0"/>
                  </a:lnTo>
                  <a:lnTo>
                    <a:pt x="12190308" y="0"/>
                  </a:lnTo>
                  <a:lnTo>
                    <a:pt x="13151817" y="0"/>
                  </a:lnTo>
                  <a:lnTo>
                    <a:pt x="13184758" y="0"/>
                  </a:lnTo>
                  <a:lnTo>
                    <a:pt x="13383856" y="0"/>
                  </a:lnTo>
                  <a:lnTo>
                    <a:pt x="13416798" y="0"/>
                  </a:lnTo>
                  <a:lnTo>
                    <a:pt x="14378307" y="0"/>
                  </a:lnTo>
                  <a:lnTo>
                    <a:pt x="14610345" y="0"/>
                  </a:lnTo>
                  <a:lnTo>
                    <a:pt x="16201259" y="0"/>
                  </a:lnTo>
                  <a:lnTo>
                    <a:pt x="17394806" y="0"/>
                  </a:lnTo>
                  <a:lnTo>
                    <a:pt x="17427749" y="0"/>
                  </a:lnTo>
                  <a:lnTo>
                    <a:pt x="18621296" y="0"/>
                  </a:lnTo>
                  <a:lnTo>
                    <a:pt x="19889012" y="777113"/>
                  </a:lnTo>
                  <a:lnTo>
                    <a:pt x="18621296" y="1554226"/>
                  </a:lnTo>
                  <a:lnTo>
                    <a:pt x="17427749" y="1554226"/>
                  </a:lnTo>
                  <a:lnTo>
                    <a:pt x="17394806" y="1554226"/>
                  </a:lnTo>
                  <a:lnTo>
                    <a:pt x="16201259" y="1554226"/>
                  </a:lnTo>
                  <a:lnTo>
                    <a:pt x="14610345" y="1554226"/>
                  </a:lnTo>
                  <a:lnTo>
                    <a:pt x="14378307" y="1554226"/>
                  </a:lnTo>
                  <a:lnTo>
                    <a:pt x="13416797" y="1554226"/>
                  </a:lnTo>
                  <a:lnTo>
                    <a:pt x="13383854" y="1554226"/>
                  </a:lnTo>
                  <a:lnTo>
                    <a:pt x="13184758" y="1554226"/>
                  </a:lnTo>
                  <a:lnTo>
                    <a:pt x="13151817" y="1554226"/>
                  </a:lnTo>
                  <a:lnTo>
                    <a:pt x="12190308" y="1554226"/>
                  </a:lnTo>
                  <a:lnTo>
                    <a:pt x="11958269" y="1554226"/>
                  </a:lnTo>
                  <a:lnTo>
                    <a:pt x="10367356" y="1554226"/>
                  </a:lnTo>
                  <a:lnTo>
                    <a:pt x="9173807" y="1554226"/>
                  </a:lnTo>
                  <a:lnTo>
                    <a:pt x="9140866" y="1554226"/>
                  </a:lnTo>
                  <a:lnTo>
                    <a:pt x="8253940" y="1554226"/>
                  </a:lnTo>
                  <a:lnTo>
                    <a:pt x="7947318" y="1554226"/>
                  </a:lnTo>
                  <a:lnTo>
                    <a:pt x="4242989" y="1554226"/>
                  </a:lnTo>
                  <a:lnTo>
                    <a:pt x="4010951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4497219" y="4045505"/>
            <a:ext cx="844366" cy="1025168"/>
          </a:xfrm>
          <a:custGeom>
            <a:avLst/>
            <a:gdLst/>
            <a:ahLst/>
            <a:cxnLst/>
            <a:rect l="l" t="t" r="r" b="b"/>
            <a:pathLst>
              <a:path w="844366" h="1025168">
                <a:moveTo>
                  <a:pt x="0" y="0"/>
                </a:moveTo>
                <a:lnTo>
                  <a:pt x="844366" y="0"/>
                </a:lnTo>
                <a:lnTo>
                  <a:pt x="844366" y="1025168"/>
                </a:lnTo>
                <a:lnTo>
                  <a:pt x="0" y="1025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33870" y="3772526"/>
            <a:ext cx="42605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Extrême rapidité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18385" y="3315326"/>
            <a:ext cx="4455886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chemeClr val="bg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Plus </a:t>
            </a:r>
            <a:r>
              <a:rPr lang="en-US" sz="3000" b="1" dirty="0" err="1">
                <a:solidFill>
                  <a:schemeClr val="bg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besoin</a:t>
            </a:r>
            <a:r>
              <a:rPr lang="en-US" sz="3000" b="1" dirty="0">
                <a:solidFill>
                  <a:schemeClr val="bg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d’être un expert </a:t>
            </a:r>
            <a:r>
              <a:rPr lang="en-US" sz="3000" b="1" dirty="0" err="1">
                <a:solidFill>
                  <a:schemeClr val="bg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multimédia</a:t>
            </a:r>
            <a:endParaRPr lang="en-US" sz="3000" b="1" dirty="0">
              <a:solidFill>
                <a:schemeClr val="bg1"/>
              </a:solidFill>
              <a:latin typeface="Montserrat Ultra-Bold"/>
              <a:ea typeface="Montserrat Ultra-Bold"/>
              <a:cs typeface="Montserrat Ultra-Bold"/>
              <a:sym typeface="Montserrat Ultra-Bold"/>
              <a:hlinkClick r:id="rId4" tooltip="https://b2b-cyber-security.de/fr/rapport-de-phishing-Les-attaques-g%C3%A9n%C3%A9r%C3%A9es-par-l%27IA-sont-en-augmentation/?utm_source=chatgpt.co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688816" y="3772526"/>
            <a:ext cx="445588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89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Vishing</a:t>
            </a:r>
            <a:r>
              <a:rPr lang="en-US" sz="3000" b="1" spc="-89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en temps </a:t>
            </a:r>
            <a:r>
              <a:rPr lang="en-US" sz="3000" b="1" spc="-89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réel</a:t>
            </a:r>
            <a:r>
              <a:rPr lang="en-US" sz="3000" b="1" spc="-89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3870" y="4372691"/>
            <a:ext cx="4260540" cy="3750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Cloner une voix prend 3 secondes</a:t>
            </a: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seconde pour générer un visage imitant une personne</a:t>
            </a: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Faire bouger le visage en temps réel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18385" y="4372691"/>
            <a:ext cx="4651232" cy="429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API publiques (Voix, vidéo, streaming temps réel)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apps web low-cost (clone vocal, clone vidéo)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tutoriels courts sur YouTube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 versions “piratées” de Voice Cloning Studio, Deepfake-live, RV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19548" y="4424739"/>
            <a:ext cx="3794424" cy="3750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Attaque la plus courante</a:t>
            </a:r>
          </a:p>
          <a:p>
            <a:pPr algn="l">
              <a:lnSpc>
                <a:spcPts val="431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voix clonée pour imiter :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 DG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 banquier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 collègue de l’IT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 parent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 agent de support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59781" y="2346825"/>
            <a:ext cx="148282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Deepfakes en temps réel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840668"/>
            <a:ext cx="1024557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2025 : Attaques amplifiées par l’IA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5" y="3276349"/>
            <a:ext cx="6970011" cy="6517693"/>
            <a:chOff x="0" y="0"/>
            <a:chExt cx="9293349" cy="86902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93371" cy="8690235"/>
            </a:xfrm>
            <a:custGeom>
              <a:avLst/>
              <a:gdLst/>
              <a:ahLst/>
              <a:cxnLst/>
              <a:rect l="l" t="t" r="r" b="b"/>
              <a:pathLst>
                <a:path w="9293371" h="8690235">
                  <a:moveTo>
                    <a:pt x="0" y="0"/>
                  </a:moveTo>
                  <a:lnTo>
                    <a:pt x="9293371" y="0"/>
                  </a:lnTo>
                  <a:lnTo>
                    <a:pt x="9293371" y="8690235"/>
                  </a:lnTo>
                  <a:lnTo>
                    <a:pt x="0" y="8690235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73898" y="3276349"/>
            <a:ext cx="7859484" cy="6476062"/>
            <a:chOff x="0" y="0"/>
            <a:chExt cx="10479312" cy="86347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79334" cy="8634727"/>
            </a:xfrm>
            <a:custGeom>
              <a:avLst/>
              <a:gdLst/>
              <a:ahLst/>
              <a:cxnLst/>
              <a:rect l="l" t="t" r="r" b="b"/>
              <a:pathLst>
                <a:path w="10479334" h="8634727">
                  <a:moveTo>
                    <a:pt x="0" y="0"/>
                  </a:moveTo>
                  <a:lnTo>
                    <a:pt x="10479334" y="0"/>
                  </a:lnTo>
                  <a:lnTo>
                    <a:pt x="10479334" y="8634727"/>
                  </a:lnTo>
                  <a:lnTo>
                    <a:pt x="0" y="8634727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519746"/>
            <a:ext cx="14916760" cy="1165718"/>
            <a:chOff x="0" y="0"/>
            <a:chExt cx="19889013" cy="1554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889012" cy="1554226"/>
            </a:xfrm>
            <a:custGeom>
              <a:avLst/>
              <a:gdLst/>
              <a:ahLst/>
              <a:cxnLst/>
              <a:rect l="l" t="t" r="r" b="b"/>
              <a:pathLst>
                <a:path w="19889012" h="1554226">
                  <a:moveTo>
                    <a:pt x="0" y="0"/>
                  </a:moveTo>
                  <a:lnTo>
                    <a:pt x="4010951" y="0"/>
                  </a:lnTo>
                  <a:lnTo>
                    <a:pt x="4242989" y="0"/>
                  </a:lnTo>
                  <a:lnTo>
                    <a:pt x="7947318" y="0"/>
                  </a:lnTo>
                  <a:lnTo>
                    <a:pt x="8253940" y="0"/>
                  </a:lnTo>
                  <a:lnTo>
                    <a:pt x="9140867" y="0"/>
                  </a:lnTo>
                  <a:lnTo>
                    <a:pt x="9173807" y="0"/>
                  </a:lnTo>
                  <a:lnTo>
                    <a:pt x="10367356" y="0"/>
                  </a:lnTo>
                  <a:lnTo>
                    <a:pt x="11958269" y="0"/>
                  </a:lnTo>
                  <a:lnTo>
                    <a:pt x="12190308" y="0"/>
                  </a:lnTo>
                  <a:lnTo>
                    <a:pt x="13151817" y="0"/>
                  </a:lnTo>
                  <a:lnTo>
                    <a:pt x="13184758" y="0"/>
                  </a:lnTo>
                  <a:lnTo>
                    <a:pt x="13383856" y="0"/>
                  </a:lnTo>
                  <a:lnTo>
                    <a:pt x="13416798" y="0"/>
                  </a:lnTo>
                  <a:lnTo>
                    <a:pt x="14378307" y="0"/>
                  </a:lnTo>
                  <a:lnTo>
                    <a:pt x="14610345" y="0"/>
                  </a:lnTo>
                  <a:lnTo>
                    <a:pt x="16201259" y="0"/>
                  </a:lnTo>
                  <a:lnTo>
                    <a:pt x="17394806" y="0"/>
                  </a:lnTo>
                  <a:lnTo>
                    <a:pt x="17427749" y="0"/>
                  </a:lnTo>
                  <a:lnTo>
                    <a:pt x="18621296" y="0"/>
                  </a:lnTo>
                  <a:lnTo>
                    <a:pt x="19889012" y="777113"/>
                  </a:lnTo>
                  <a:lnTo>
                    <a:pt x="18621296" y="1554226"/>
                  </a:lnTo>
                  <a:lnTo>
                    <a:pt x="17427749" y="1554226"/>
                  </a:lnTo>
                  <a:lnTo>
                    <a:pt x="17394806" y="1554226"/>
                  </a:lnTo>
                  <a:lnTo>
                    <a:pt x="16201259" y="1554226"/>
                  </a:lnTo>
                  <a:lnTo>
                    <a:pt x="14610345" y="1554226"/>
                  </a:lnTo>
                  <a:lnTo>
                    <a:pt x="14378307" y="1554226"/>
                  </a:lnTo>
                  <a:lnTo>
                    <a:pt x="13416797" y="1554226"/>
                  </a:lnTo>
                  <a:lnTo>
                    <a:pt x="13383854" y="1554226"/>
                  </a:lnTo>
                  <a:lnTo>
                    <a:pt x="13184758" y="1554226"/>
                  </a:lnTo>
                  <a:lnTo>
                    <a:pt x="13151817" y="1554226"/>
                  </a:lnTo>
                  <a:lnTo>
                    <a:pt x="12190308" y="1554226"/>
                  </a:lnTo>
                  <a:lnTo>
                    <a:pt x="11958269" y="1554226"/>
                  </a:lnTo>
                  <a:lnTo>
                    <a:pt x="10367356" y="1554226"/>
                  </a:lnTo>
                  <a:lnTo>
                    <a:pt x="9173807" y="1554226"/>
                  </a:lnTo>
                  <a:lnTo>
                    <a:pt x="9140866" y="1554226"/>
                  </a:lnTo>
                  <a:lnTo>
                    <a:pt x="8253940" y="1554226"/>
                  </a:lnTo>
                  <a:lnTo>
                    <a:pt x="7947318" y="1554226"/>
                  </a:lnTo>
                  <a:lnTo>
                    <a:pt x="4242989" y="1554226"/>
                  </a:lnTo>
                  <a:lnTo>
                    <a:pt x="4010951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811859" y="3851775"/>
            <a:ext cx="526345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Fausses visioconférences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73370" y="3851775"/>
            <a:ext cx="42605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C’est utilisé dans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9781" y="4753601"/>
            <a:ext cx="5367611" cy="4112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1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Avec des outils de “face swap” en live, l’attaquant :</a:t>
            </a:r>
          </a:p>
          <a:p>
            <a:pPr algn="just">
              <a:lnSpc>
                <a:spcPts val="2880"/>
              </a:lnSpc>
            </a:pPr>
            <a:endParaRPr lang="en-US" sz="23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 connecte à une réunion vidéo</a:t>
            </a: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montre un visage qui bouge et parle comme la vraie personne</a:t>
            </a: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 répond aux questions en temps réel grâce à un agent 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73898" y="4372691"/>
            <a:ext cx="7538912" cy="4836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 fraudes au président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 demandes de transfert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récupération d’accès (reset de mot de passe)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 faux appels d’offres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 escroqueries au recrutement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apps web low-cost (clone vocal, clone vidéo)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tutoriels courts sur YouTube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 versions “piratées” de Voice Cloning Studio, Deepfake-live, RV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9781" y="2346825"/>
            <a:ext cx="148282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Deepfakes en temps réel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40668"/>
            <a:ext cx="1024557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2025 : Attaques amplifiées par l’IA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5" y="3057274"/>
            <a:ext cx="4651231" cy="6659988"/>
            <a:chOff x="0" y="0"/>
            <a:chExt cx="6201642" cy="8879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1664" cy="8879961"/>
            </a:xfrm>
            <a:custGeom>
              <a:avLst/>
              <a:gdLst/>
              <a:ahLst/>
              <a:cxnLst/>
              <a:rect l="l" t="t" r="r" b="b"/>
              <a:pathLst>
                <a:path w="6201664" h="8879961">
                  <a:moveTo>
                    <a:pt x="0" y="0"/>
                  </a:moveTo>
                  <a:lnTo>
                    <a:pt x="6201664" y="0"/>
                  </a:lnTo>
                  <a:lnTo>
                    <a:pt x="6201664" y="8879961"/>
                  </a:lnTo>
                  <a:lnTo>
                    <a:pt x="0" y="8879961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93787" y="3057274"/>
            <a:ext cx="4651232" cy="6659988"/>
            <a:chOff x="0" y="0"/>
            <a:chExt cx="6201642" cy="88799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01664" cy="8879961"/>
            </a:xfrm>
            <a:custGeom>
              <a:avLst/>
              <a:gdLst/>
              <a:ahLst/>
              <a:cxnLst/>
              <a:rect l="l" t="t" r="r" b="b"/>
              <a:pathLst>
                <a:path w="6201664" h="8879961">
                  <a:moveTo>
                    <a:pt x="0" y="0"/>
                  </a:moveTo>
                  <a:lnTo>
                    <a:pt x="6201664" y="0"/>
                  </a:lnTo>
                  <a:lnTo>
                    <a:pt x="6201664" y="8879961"/>
                  </a:lnTo>
                  <a:lnTo>
                    <a:pt x="0" y="8879961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503183" y="3057274"/>
            <a:ext cx="5310291" cy="6659988"/>
            <a:chOff x="0" y="0"/>
            <a:chExt cx="7080388" cy="8879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80410" cy="8879961"/>
            </a:xfrm>
            <a:custGeom>
              <a:avLst/>
              <a:gdLst/>
              <a:ahLst/>
              <a:cxnLst/>
              <a:rect l="l" t="t" r="r" b="b"/>
              <a:pathLst>
                <a:path w="7080410" h="8879961">
                  <a:moveTo>
                    <a:pt x="0" y="0"/>
                  </a:moveTo>
                  <a:lnTo>
                    <a:pt x="7080410" y="0"/>
                  </a:lnTo>
                  <a:lnTo>
                    <a:pt x="7080410" y="8879961"/>
                  </a:lnTo>
                  <a:lnTo>
                    <a:pt x="0" y="8879961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519746"/>
            <a:ext cx="14916760" cy="1165718"/>
            <a:chOff x="0" y="0"/>
            <a:chExt cx="19889013" cy="15542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889012" cy="1554226"/>
            </a:xfrm>
            <a:custGeom>
              <a:avLst/>
              <a:gdLst/>
              <a:ahLst/>
              <a:cxnLst/>
              <a:rect l="l" t="t" r="r" b="b"/>
              <a:pathLst>
                <a:path w="19889012" h="1554226">
                  <a:moveTo>
                    <a:pt x="0" y="0"/>
                  </a:moveTo>
                  <a:lnTo>
                    <a:pt x="4010951" y="0"/>
                  </a:lnTo>
                  <a:lnTo>
                    <a:pt x="4242989" y="0"/>
                  </a:lnTo>
                  <a:lnTo>
                    <a:pt x="7947318" y="0"/>
                  </a:lnTo>
                  <a:lnTo>
                    <a:pt x="8253940" y="0"/>
                  </a:lnTo>
                  <a:lnTo>
                    <a:pt x="9140867" y="0"/>
                  </a:lnTo>
                  <a:lnTo>
                    <a:pt x="9173807" y="0"/>
                  </a:lnTo>
                  <a:lnTo>
                    <a:pt x="10367356" y="0"/>
                  </a:lnTo>
                  <a:lnTo>
                    <a:pt x="11958269" y="0"/>
                  </a:lnTo>
                  <a:lnTo>
                    <a:pt x="12190308" y="0"/>
                  </a:lnTo>
                  <a:lnTo>
                    <a:pt x="13151817" y="0"/>
                  </a:lnTo>
                  <a:lnTo>
                    <a:pt x="13184758" y="0"/>
                  </a:lnTo>
                  <a:lnTo>
                    <a:pt x="13383856" y="0"/>
                  </a:lnTo>
                  <a:lnTo>
                    <a:pt x="13416798" y="0"/>
                  </a:lnTo>
                  <a:lnTo>
                    <a:pt x="14378307" y="0"/>
                  </a:lnTo>
                  <a:lnTo>
                    <a:pt x="14610345" y="0"/>
                  </a:lnTo>
                  <a:lnTo>
                    <a:pt x="16201259" y="0"/>
                  </a:lnTo>
                  <a:lnTo>
                    <a:pt x="17394806" y="0"/>
                  </a:lnTo>
                  <a:lnTo>
                    <a:pt x="17427749" y="0"/>
                  </a:lnTo>
                  <a:lnTo>
                    <a:pt x="18621296" y="0"/>
                  </a:lnTo>
                  <a:lnTo>
                    <a:pt x="19889012" y="777113"/>
                  </a:lnTo>
                  <a:lnTo>
                    <a:pt x="18621296" y="1554226"/>
                  </a:lnTo>
                  <a:lnTo>
                    <a:pt x="17427749" y="1554226"/>
                  </a:lnTo>
                  <a:lnTo>
                    <a:pt x="17394806" y="1554226"/>
                  </a:lnTo>
                  <a:lnTo>
                    <a:pt x="16201259" y="1554226"/>
                  </a:lnTo>
                  <a:lnTo>
                    <a:pt x="14610345" y="1554226"/>
                  </a:lnTo>
                  <a:lnTo>
                    <a:pt x="14378307" y="1554226"/>
                  </a:lnTo>
                  <a:lnTo>
                    <a:pt x="13416797" y="1554226"/>
                  </a:lnTo>
                  <a:lnTo>
                    <a:pt x="13383854" y="1554226"/>
                  </a:lnTo>
                  <a:lnTo>
                    <a:pt x="13184758" y="1554226"/>
                  </a:lnTo>
                  <a:lnTo>
                    <a:pt x="13151817" y="1554226"/>
                  </a:lnTo>
                  <a:lnTo>
                    <a:pt x="12190308" y="1554226"/>
                  </a:lnTo>
                  <a:lnTo>
                    <a:pt x="11958269" y="1554226"/>
                  </a:lnTo>
                  <a:lnTo>
                    <a:pt x="10367356" y="1554226"/>
                  </a:lnTo>
                  <a:lnTo>
                    <a:pt x="9173807" y="1554226"/>
                  </a:lnTo>
                  <a:lnTo>
                    <a:pt x="9140866" y="1554226"/>
                  </a:lnTo>
                  <a:lnTo>
                    <a:pt x="8253940" y="1554226"/>
                  </a:lnTo>
                  <a:lnTo>
                    <a:pt x="7947318" y="1554226"/>
                  </a:lnTo>
                  <a:lnTo>
                    <a:pt x="4242989" y="1554226"/>
                  </a:lnTo>
                  <a:lnTo>
                    <a:pt x="4010951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4497219" y="3826430"/>
            <a:ext cx="844366" cy="1025168"/>
          </a:xfrm>
          <a:custGeom>
            <a:avLst/>
            <a:gdLst/>
            <a:ahLst/>
            <a:cxnLst/>
            <a:rect l="l" t="t" r="r" b="b"/>
            <a:pathLst>
              <a:path w="844366" h="1025168">
                <a:moveTo>
                  <a:pt x="0" y="0"/>
                </a:moveTo>
                <a:lnTo>
                  <a:pt x="844366" y="0"/>
                </a:lnTo>
                <a:lnTo>
                  <a:pt x="844366" y="1025168"/>
                </a:lnTo>
                <a:lnTo>
                  <a:pt x="0" y="1025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33870" y="3324851"/>
            <a:ext cx="426054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Phishing conversationnel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76646" y="3324851"/>
            <a:ext cx="445588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chemeClr val="bg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faux helpdesk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88816" y="3553451"/>
            <a:ext cx="4455886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89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Bots </a:t>
            </a:r>
            <a:r>
              <a:rPr lang="en-US" sz="3000" b="1" spc="-89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autonomes</a:t>
            </a:r>
            <a:r>
              <a:rPr lang="en-US" sz="3000" b="1" spc="-89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dans les </a:t>
            </a:r>
            <a:r>
              <a:rPr lang="en-US" sz="3000" b="1" spc="-89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plateformes</a:t>
            </a:r>
            <a:r>
              <a:rPr lang="en-US" sz="3000" b="1" spc="-89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 </a:t>
            </a:r>
            <a:r>
              <a:rPr lang="en-US" sz="3000" b="1" spc="-89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messagerie</a:t>
            </a:r>
            <a:endParaRPr lang="en-US" sz="3000" b="1" spc="-89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  <a:hlinkClick r:id="rId4" tooltip="https://b2b-cyber-security.de/fr/rapport-de-phishing-Les-attaques-g%C3%A9n%C3%A9r%C3%A9es-par-l%27IA-sont-en-augmentation/?utm_source=chatgpt.co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33870" y="4153616"/>
            <a:ext cx="4260540" cy="537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1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 lieu d’un simple email, l’agent :</a:t>
            </a: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dialogue avec la victime</a:t>
            </a: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répond à ses doutes</a:t>
            </a: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fournit des détails contextuels</a:t>
            </a: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ajuste le niveau de technicité</a:t>
            </a: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joue sur l’urgence ou la confiance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76646" y="4077326"/>
            <a:ext cx="4794505" cy="537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 spc="-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Bonjour, je suis de l’équipe IT. Une tentative de connexion suspecte a été détectée.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Il demande : “Pouvez-vous vérifier votre code OTP ?”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 la victime hésite , l’agent fournit des explications techniques.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 la victime pose une question, il répond précision.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88816" y="4968003"/>
            <a:ext cx="4455886" cy="429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Sur WhatsApp ou SMS, un agent peut :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initier une conversation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analyser la personnalité de la victime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détecter ses émotions à travers ses réponses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moduler son approche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59781" y="2127750"/>
            <a:ext cx="148282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Agents IA qui miment une conversation humaine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840668"/>
            <a:ext cx="1024557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2025 : Attaques amplifiées par l’IA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5" y="3057274"/>
            <a:ext cx="4651231" cy="6659988"/>
            <a:chOff x="0" y="0"/>
            <a:chExt cx="6201642" cy="8879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1664" cy="8879961"/>
            </a:xfrm>
            <a:custGeom>
              <a:avLst/>
              <a:gdLst/>
              <a:ahLst/>
              <a:cxnLst/>
              <a:rect l="l" t="t" r="r" b="b"/>
              <a:pathLst>
                <a:path w="6201664" h="8879961">
                  <a:moveTo>
                    <a:pt x="0" y="0"/>
                  </a:moveTo>
                  <a:lnTo>
                    <a:pt x="6201664" y="0"/>
                  </a:lnTo>
                  <a:lnTo>
                    <a:pt x="6201664" y="8879961"/>
                  </a:lnTo>
                  <a:lnTo>
                    <a:pt x="0" y="8879961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93787" y="3057274"/>
            <a:ext cx="4651232" cy="6659988"/>
            <a:chOff x="0" y="0"/>
            <a:chExt cx="6201642" cy="88799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01664" cy="8879961"/>
            </a:xfrm>
            <a:custGeom>
              <a:avLst/>
              <a:gdLst/>
              <a:ahLst/>
              <a:cxnLst/>
              <a:rect l="l" t="t" r="r" b="b"/>
              <a:pathLst>
                <a:path w="6201664" h="8879961">
                  <a:moveTo>
                    <a:pt x="0" y="0"/>
                  </a:moveTo>
                  <a:lnTo>
                    <a:pt x="6201664" y="0"/>
                  </a:lnTo>
                  <a:lnTo>
                    <a:pt x="6201664" y="8879961"/>
                  </a:lnTo>
                  <a:lnTo>
                    <a:pt x="0" y="8879961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503183" y="3057274"/>
            <a:ext cx="5310291" cy="6659988"/>
            <a:chOff x="0" y="0"/>
            <a:chExt cx="7080388" cy="8879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80410" cy="8879961"/>
            </a:xfrm>
            <a:custGeom>
              <a:avLst/>
              <a:gdLst/>
              <a:ahLst/>
              <a:cxnLst/>
              <a:rect l="l" t="t" r="r" b="b"/>
              <a:pathLst>
                <a:path w="7080410" h="8879961">
                  <a:moveTo>
                    <a:pt x="0" y="0"/>
                  </a:moveTo>
                  <a:lnTo>
                    <a:pt x="7080410" y="0"/>
                  </a:lnTo>
                  <a:lnTo>
                    <a:pt x="7080410" y="8879961"/>
                  </a:lnTo>
                  <a:lnTo>
                    <a:pt x="0" y="8879961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519746"/>
            <a:ext cx="14916760" cy="1165718"/>
            <a:chOff x="0" y="0"/>
            <a:chExt cx="19889013" cy="15542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889012" cy="1554226"/>
            </a:xfrm>
            <a:custGeom>
              <a:avLst/>
              <a:gdLst/>
              <a:ahLst/>
              <a:cxnLst/>
              <a:rect l="l" t="t" r="r" b="b"/>
              <a:pathLst>
                <a:path w="19889012" h="1554226">
                  <a:moveTo>
                    <a:pt x="0" y="0"/>
                  </a:moveTo>
                  <a:lnTo>
                    <a:pt x="4010951" y="0"/>
                  </a:lnTo>
                  <a:lnTo>
                    <a:pt x="4242989" y="0"/>
                  </a:lnTo>
                  <a:lnTo>
                    <a:pt x="7947318" y="0"/>
                  </a:lnTo>
                  <a:lnTo>
                    <a:pt x="8253940" y="0"/>
                  </a:lnTo>
                  <a:lnTo>
                    <a:pt x="9140867" y="0"/>
                  </a:lnTo>
                  <a:lnTo>
                    <a:pt x="9173807" y="0"/>
                  </a:lnTo>
                  <a:lnTo>
                    <a:pt x="10367356" y="0"/>
                  </a:lnTo>
                  <a:lnTo>
                    <a:pt x="11958269" y="0"/>
                  </a:lnTo>
                  <a:lnTo>
                    <a:pt x="12190308" y="0"/>
                  </a:lnTo>
                  <a:lnTo>
                    <a:pt x="13151817" y="0"/>
                  </a:lnTo>
                  <a:lnTo>
                    <a:pt x="13184758" y="0"/>
                  </a:lnTo>
                  <a:lnTo>
                    <a:pt x="13383856" y="0"/>
                  </a:lnTo>
                  <a:lnTo>
                    <a:pt x="13416798" y="0"/>
                  </a:lnTo>
                  <a:lnTo>
                    <a:pt x="14378307" y="0"/>
                  </a:lnTo>
                  <a:lnTo>
                    <a:pt x="14610345" y="0"/>
                  </a:lnTo>
                  <a:lnTo>
                    <a:pt x="16201259" y="0"/>
                  </a:lnTo>
                  <a:lnTo>
                    <a:pt x="17394806" y="0"/>
                  </a:lnTo>
                  <a:lnTo>
                    <a:pt x="17427749" y="0"/>
                  </a:lnTo>
                  <a:lnTo>
                    <a:pt x="18621296" y="0"/>
                  </a:lnTo>
                  <a:lnTo>
                    <a:pt x="19889012" y="777113"/>
                  </a:lnTo>
                  <a:lnTo>
                    <a:pt x="18621296" y="1554226"/>
                  </a:lnTo>
                  <a:lnTo>
                    <a:pt x="17427749" y="1554226"/>
                  </a:lnTo>
                  <a:lnTo>
                    <a:pt x="17394806" y="1554226"/>
                  </a:lnTo>
                  <a:lnTo>
                    <a:pt x="16201259" y="1554226"/>
                  </a:lnTo>
                  <a:lnTo>
                    <a:pt x="14610345" y="1554226"/>
                  </a:lnTo>
                  <a:lnTo>
                    <a:pt x="14378307" y="1554226"/>
                  </a:lnTo>
                  <a:lnTo>
                    <a:pt x="13416797" y="1554226"/>
                  </a:lnTo>
                  <a:lnTo>
                    <a:pt x="13383854" y="1554226"/>
                  </a:lnTo>
                  <a:lnTo>
                    <a:pt x="13184758" y="1554226"/>
                  </a:lnTo>
                  <a:lnTo>
                    <a:pt x="13151817" y="1554226"/>
                  </a:lnTo>
                  <a:lnTo>
                    <a:pt x="12190308" y="1554226"/>
                  </a:lnTo>
                  <a:lnTo>
                    <a:pt x="11958269" y="1554226"/>
                  </a:lnTo>
                  <a:lnTo>
                    <a:pt x="10367356" y="1554226"/>
                  </a:lnTo>
                  <a:lnTo>
                    <a:pt x="9173807" y="1554226"/>
                  </a:lnTo>
                  <a:lnTo>
                    <a:pt x="9140866" y="1554226"/>
                  </a:lnTo>
                  <a:lnTo>
                    <a:pt x="8253940" y="1554226"/>
                  </a:lnTo>
                  <a:lnTo>
                    <a:pt x="7947318" y="1554226"/>
                  </a:lnTo>
                  <a:lnTo>
                    <a:pt x="4242989" y="1554226"/>
                  </a:lnTo>
                  <a:lnTo>
                    <a:pt x="4010951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4497219" y="3826430"/>
            <a:ext cx="844366" cy="1025168"/>
          </a:xfrm>
          <a:custGeom>
            <a:avLst/>
            <a:gdLst/>
            <a:ahLst/>
            <a:cxnLst/>
            <a:rect l="l" t="t" r="r" b="b"/>
            <a:pathLst>
              <a:path w="844366" h="1025168">
                <a:moveTo>
                  <a:pt x="0" y="0"/>
                </a:moveTo>
                <a:lnTo>
                  <a:pt x="844366" y="0"/>
                </a:lnTo>
                <a:lnTo>
                  <a:pt x="844366" y="1025168"/>
                </a:lnTo>
                <a:lnTo>
                  <a:pt x="0" y="1025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33870" y="3324851"/>
            <a:ext cx="42605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A01 – Injection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76646" y="3324851"/>
            <a:ext cx="4455886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A07 – Identification et Authentication Failures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88816" y="3553451"/>
            <a:ext cx="4455886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89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b2b-cyber-security.de/fr/rapport-de-phishing-Les-attaques-g%C3%A9n%C3%A9r%C3%A9es-par-l%27IA-sont-en-augmentation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A05 – Security Misconfiguration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3468" y="4544051"/>
            <a:ext cx="4260540" cy="266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 agent IA peut analyser une réponse d’erreur</a:t>
            </a: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identifier le SGBD utilisé</a:t>
            </a:r>
          </a:p>
          <a:p>
            <a:pPr marL="518157" lvl="1" indent="-259078" algn="just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générer la charge utile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3468" y="7494897"/>
            <a:ext cx="4260540" cy="1165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2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l’IA fait le travail d’un pirate expérimenté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79344" y="4791701"/>
            <a:ext cx="4250491" cy="429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 spc="-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C’est l’une des failles les plus impactées.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 spc="-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générer des phishing hyper-personnalisés, simuler un deepfake vocal pour contourner une vérification téléphonique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88816" y="4718248"/>
            <a:ext cx="4455886" cy="429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Autrefois, trouver une configuration faible prenait du temps</a:t>
            </a:r>
          </a:p>
          <a:p>
            <a:pPr marL="518157" lvl="1" indent="-259078" algn="l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Aujourd’hui, un agent IA peut tester des centaines de chemins possibles, analyser les messages d’erreur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59781" y="2127750"/>
            <a:ext cx="148282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Attaques augmentées ciblant les failles OWASP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840668"/>
            <a:ext cx="1024557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2025 : Attaques amplifiées par l’IA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307" y="3057274"/>
            <a:ext cx="15651708" cy="6659988"/>
            <a:chOff x="0" y="0"/>
            <a:chExt cx="20868944" cy="8879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68966" cy="8879961"/>
            </a:xfrm>
            <a:custGeom>
              <a:avLst/>
              <a:gdLst/>
              <a:ahLst/>
              <a:cxnLst/>
              <a:rect l="l" t="t" r="r" b="b"/>
              <a:pathLst>
                <a:path w="20868966" h="8879961">
                  <a:moveTo>
                    <a:pt x="0" y="0"/>
                  </a:moveTo>
                  <a:lnTo>
                    <a:pt x="20868966" y="0"/>
                  </a:lnTo>
                  <a:lnTo>
                    <a:pt x="20868966" y="8879961"/>
                  </a:lnTo>
                  <a:lnTo>
                    <a:pt x="0" y="8879961"/>
                  </a:lnTo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19746"/>
            <a:ext cx="14916760" cy="1165718"/>
            <a:chOff x="0" y="0"/>
            <a:chExt cx="19889013" cy="15542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89012" cy="1554226"/>
            </a:xfrm>
            <a:custGeom>
              <a:avLst/>
              <a:gdLst/>
              <a:ahLst/>
              <a:cxnLst/>
              <a:rect l="l" t="t" r="r" b="b"/>
              <a:pathLst>
                <a:path w="19889012" h="1554226">
                  <a:moveTo>
                    <a:pt x="0" y="0"/>
                  </a:moveTo>
                  <a:lnTo>
                    <a:pt x="4010951" y="0"/>
                  </a:lnTo>
                  <a:lnTo>
                    <a:pt x="4242989" y="0"/>
                  </a:lnTo>
                  <a:lnTo>
                    <a:pt x="7947318" y="0"/>
                  </a:lnTo>
                  <a:lnTo>
                    <a:pt x="8253940" y="0"/>
                  </a:lnTo>
                  <a:lnTo>
                    <a:pt x="9140867" y="0"/>
                  </a:lnTo>
                  <a:lnTo>
                    <a:pt x="9173807" y="0"/>
                  </a:lnTo>
                  <a:lnTo>
                    <a:pt x="10367356" y="0"/>
                  </a:lnTo>
                  <a:lnTo>
                    <a:pt x="11958269" y="0"/>
                  </a:lnTo>
                  <a:lnTo>
                    <a:pt x="12190308" y="0"/>
                  </a:lnTo>
                  <a:lnTo>
                    <a:pt x="13151817" y="0"/>
                  </a:lnTo>
                  <a:lnTo>
                    <a:pt x="13184758" y="0"/>
                  </a:lnTo>
                  <a:lnTo>
                    <a:pt x="13383856" y="0"/>
                  </a:lnTo>
                  <a:lnTo>
                    <a:pt x="13416798" y="0"/>
                  </a:lnTo>
                  <a:lnTo>
                    <a:pt x="14378307" y="0"/>
                  </a:lnTo>
                  <a:lnTo>
                    <a:pt x="14610345" y="0"/>
                  </a:lnTo>
                  <a:lnTo>
                    <a:pt x="16201259" y="0"/>
                  </a:lnTo>
                  <a:lnTo>
                    <a:pt x="17394806" y="0"/>
                  </a:lnTo>
                  <a:lnTo>
                    <a:pt x="17427749" y="0"/>
                  </a:lnTo>
                  <a:lnTo>
                    <a:pt x="18621296" y="0"/>
                  </a:lnTo>
                  <a:lnTo>
                    <a:pt x="19889012" y="777113"/>
                  </a:lnTo>
                  <a:lnTo>
                    <a:pt x="18621296" y="1554226"/>
                  </a:lnTo>
                  <a:lnTo>
                    <a:pt x="17427749" y="1554226"/>
                  </a:lnTo>
                  <a:lnTo>
                    <a:pt x="17394806" y="1554226"/>
                  </a:lnTo>
                  <a:lnTo>
                    <a:pt x="16201259" y="1554226"/>
                  </a:lnTo>
                  <a:lnTo>
                    <a:pt x="14610345" y="1554226"/>
                  </a:lnTo>
                  <a:lnTo>
                    <a:pt x="14378307" y="1554226"/>
                  </a:lnTo>
                  <a:lnTo>
                    <a:pt x="13416797" y="1554226"/>
                  </a:lnTo>
                  <a:lnTo>
                    <a:pt x="13383854" y="1554226"/>
                  </a:lnTo>
                  <a:lnTo>
                    <a:pt x="13184758" y="1554226"/>
                  </a:lnTo>
                  <a:lnTo>
                    <a:pt x="13151817" y="1554226"/>
                  </a:lnTo>
                  <a:lnTo>
                    <a:pt x="12190308" y="1554226"/>
                  </a:lnTo>
                  <a:lnTo>
                    <a:pt x="11958269" y="1554226"/>
                  </a:lnTo>
                  <a:lnTo>
                    <a:pt x="10367356" y="1554226"/>
                  </a:lnTo>
                  <a:lnTo>
                    <a:pt x="9173807" y="1554226"/>
                  </a:lnTo>
                  <a:lnTo>
                    <a:pt x="9140866" y="1554226"/>
                  </a:lnTo>
                  <a:lnTo>
                    <a:pt x="8253940" y="1554226"/>
                  </a:lnTo>
                  <a:lnTo>
                    <a:pt x="7947318" y="1554226"/>
                  </a:lnTo>
                  <a:lnTo>
                    <a:pt x="4242989" y="1554226"/>
                  </a:lnTo>
                  <a:lnTo>
                    <a:pt x="4010951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4497219" y="3826430"/>
            <a:ext cx="844366" cy="1025168"/>
          </a:xfrm>
          <a:custGeom>
            <a:avLst/>
            <a:gdLst/>
            <a:ahLst/>
            <a:cxnLst/>
            <a:rect l="l" t="t" r="r" b="b"/>
            <a:pathLst>
              <a:path w="844366" h="1025168">
                <a:moveTo>
                  <a:pt x="0" y="0"/>
                </a:moveTo>
                <a:lnTo>
                  <a:pt x="844366" y="0"/>
                </a:lnTo>
                <a:lnTo>
                  <a:pt x="844366" y="1025168"/>
                </a:lnTo>
                <a:lnTo>
                  <a:pt x="0" y="1025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59781" y="3706933"/>
            <a:ext cx="13581804" cy="5198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521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 : [Notification importante – Action requise]</a:t>
            </a:r>
          </a:p>
          <a:p>
            <a:pPr marL="626104" lvl="1" indent="-313052" algn="l">
              <a:lnSpc>
                <a:spcPts val="521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Bonjour [Prénom],</a:t>
            </a:r>
          </a:p>
          <a:p>
            <a:pPr marL="626104" lvl="1" indent="-313052" algn="l">
              <a:lnSpc>
                <a:spcPts val="521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Nous avons détecté une action nécessitant votre confirmation concernant [PROJET / COMPTE]. Merci de vérifier les informations et de nous confirmer avant [DATE].</a:t>
            </a:r>
          </a:p>
          <a:p>
            <a:pPr marL="626104" lvl="1" indent="-313052" algn="l">
              <a:lnSpc>
                <a:spcPts val="521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[TEXTE NON ACTIONNABLE — lien retiré]</a:t>
            </a:r>
          </a:p>
          <a:p>
            <a:pPr marL="626104" lvl="1" indent="-313052" algn="l">
              <a:lnSpc>
                <a:spcPts val="521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Cordialement,</a:t>
            </a:r>
          </a:p>
          <a:p>
            <a:pPr marL="626104" lvl="1" indent="-313052" algn="l">
              <a:lnSpc>
                <a:spcPts val="521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[Service Support – Nom générique]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9781" y="2127750"/>
            <a:ext cx="148282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Génération d’un email phishing (type WormGPT)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40668"/>
            <a:ext cx="1024557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Démonstration pédagogique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9746"/>
            <a:ext cx="14916760" cy="1165718"/>
            <a:chOff x="0" y="0"/>
            <a:chExt cx="19889013" cy="1554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889012" cy="1554226"/>
            </a:xfrm>
            <a:custGeom>
              <a:avLst/>
              <a:gdLst/>
              <a:ahLst/>
              <a:cxnLst/>
              <a:rect l="l" t="t" r="r" b="b"/>
              <a:pathLst>
                <a:path w="19889012" h="1554226">
                  <a:moveTo>
                    <a:pt x="0" y="0"/>
                  </a:moveTo>
                  <a:lnTo>
                    <a:pt x="4010951" y="0"/>
                  </a:lnTo>
                  <a:lnTo>
                    <a:pt x="4242989" y="0"/>
                  </a:lnTo>
                  <a:lnTo>
                    <a:pt x="7947318" y="0"/>
                  </a:lnTo>
                  <a:lnTo>
                    <a:pt x="8253940" y="0"/>
                  </a:lnTo>
                  <a:lnTo>
                    <a:pt x="9140867" y="0"/>
                  </a:lnTo>
                  <a:lnTo>
                    <a:pt x="9173807" y="0"/>
                  </a:lnTo>
                  <a:lnTo>
                    <a:pt x="10367356" y="0"/>
                  </a:lnTo>
                  <a:lnTo>
                    <a:pt x="11958269" y="0"/>
                  </a:lnTo>
                  <a:lnTo>
                    <a:pt x="12190308" y="0"/>
                  </a:lnTo>
                  <a:lnTo>
                    <a:pt x="13151817" y="0"/>
                  </a:lnTo>
                  <a:lnTo>
                    <a:pt x="13184758" y="0"/>
                  </a:lnTo>
                  <a:lnTo>
                    <a:pt x="13383856" y="0"/>
                  </a:lnTo>
                  <a:lnTo>
                    <a:pt x="13416798" y="0"/>
                  </a:lnTo>
                  <a:lnTo>
                    <a:pt x="14378307" y="0"/>
                  </a:lnTo>
                  <a:lnTo>
                    <a:pt x="14610345" y="0"/>
                  </a:lnTo>
                  <a:lnTo>
                    <a:pt x="16201259" y="0"/>
                  </a:lnTo>
                  <a:lnTo>
                    <a:pt x="17394806" y="0"/>
                  </a:lnTo>
                  <a:lnTo>
                    <a:pt x="17427749" y="0"/>
                  </a:lnTo>
                  <a:lnTo>
                    <a:pt x="18621296" y="0"/>
                  </a:lnTo>
                  <a:lnTo>
                    <a:pt x="19889012" y="777113"/>
                  </a:lnTo>
                  <a:lnTo>
                    <a:pt x="18621296" y="1554226"/>
                  </a:lnTo>
                  <a:lnTo>
                    <a:pt x="17427749" y="1554226"/>
                  </a:lnTo>
                  <a:lnTo>
                    <a:pt x="17394806" y="1554226"/>
                  </a:lnTo>
                  <a:lnTo>
                    <a:pt x="16201259" y="1554226"/>
                  </a:lnTo>
                  <a:lnTo>
                    <a:pt x="14610345" y="1554226"/>
                  </a:lnTo>
                  <a:lnTo>
                    <a:pt x="14378307" y="1554226"/>
                  </a:lnTo>
                  <a:lnTo>
                    <a:pt x="13416797" y="1554226"/>
                  </a:lnTo>
                  <a:lnTo>
                    <a:pt x="13383854" y="1554226"/>
                  </a:lnTo>
                  <a:lnTo>
                    <a:pt x="13184758" y="1554226"/>
                  </a:lnTo>
                  <a:lnTo>
                    <a:pt x="13151817" y="1554226"/>
                  </a:lnTo>
                  <a:lnTo>
                    <a:pt x="12190308" y="1554226"/>
                  </a:lnTo>
                  <a:lnTo>
                    <a:pt x="11958269" y="1554226"/>
                  </a:lnTo>
                  <a:lnTo>
                    <a:pt x="10367356" y="1554226"/>
                  </a:lnTo>
                  <a:lnTo>
                    <a:pt x="9173807" y="1554226"/>
                  </a:lnTo>
                  <a:lnTo>
                    <a:pt x="9140866" y="1554226"/>
                  </a:lnTo>
                  <a:lnTo>
                    <a:pt x="8253940" y="1554226"/>
                  </a:lnTo>
                  <a:lnTo>
                    <a:pt x="7947318" y="1554226"/>
                  </a:lnTo>
                  <a:lnTo>
                    <a:pt x="4242989" y="1554226"/>
                  </a:lnTo>
                  <a:lnTo>
                    <a:pt x="4010951" y="1554226"/>
                  </a:lnTo>
                  <a:lnTo>
                    <a:pt x="0" y="1554226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19746"/>
            <a:ext cx="936307" cy="1165718"/>
            <a:chOff x="0" y="0"/>
            <a:chExt cx="1248410" cy="15542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48410" cy="1554353"/>
            </a:xfrm>
            <a:custGeom>
              <a:avLst/>
              <a:gdLst/>
              <a:ahLst/>
              <a:cxnLst/>
              <a:rect l="l" t="t" r="r" b="b"/>
              <a:pathLst>
                <a:path w="1248410" h="1554353">
                  <a:moveTo>
                    <a:pt x="0" y="0"/>
                  </a:moveTo>
                  <a:lnTo>
                    <a:pt x="471297" y="0"/>
                  </a:lnTo>
                  <a:lnTo>
                    <a:pt x="1248410" y="777113"/>
                  </a:lnTo>
                  <a:lnTo>
                    <a:pt x="471297" y="1554353"/>
                  </a:lnTo>
                  <a:lnTo>
                    <a:pt x="0" y="1554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59781" y="2127750"/>
            <a:ext cx="1482823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Simulation d’un deepfake vocal (vishing)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40668"/>
            <a:ext cx="1024557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Démonstration pédagogique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36307" y="3057274"/>
            <a:ext cx="15651708" cy="6659988"/>
            <a:chOff x="0" y="0"/>
            <a:chExt cx="20868944" cy="88799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868966" cy="8879961"/>
            </a:xfrm>
            <a:custGeom>
              <a:avLst/>
              <a:gdLst/>
              <a:ahLst/>
              <a:cxnLst/>
              <a:rect l="l" t="t" r="r" b="b"/>
              <a:pathLst>
                <a:path w="20868966" h="8879961">
                  <a:moveTo>
                    <a:pt x="0" y="0"/>
                  </a:moveTo>
                  <a:lnTo>
                    <a:pt x="20868966" y="0"/>
                  </a:lnTo>
                  <a:lnTo>
                    <a:pt x="20868966" y="8879961"/>
                  </a:lnTo>
                  <a:lnTo>
                    <a:pt x="0" y="8879961"/>
                  </a:lnTo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759781" y="3706933"/>
            <a:ext cx="13581804" cy="59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5219"/>
              </a:lnSpc>
              <a:buFont typeface="Arial"/>
              <a:buChar char="•"/>
            </a:pPr>
            <a:r>
              <a:rPr lang="en-US" sz="28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 pratique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8192" y="4279265"/>
            <a:ext cx="8548254" cy="207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Merci pour votre attention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813650" y="4521838"/>
            <a:ext cx="6927198" cy="6927198"/>
            <a:chOff x="0" y="0"/>
            <a:chExt cx="9236264" cy="92362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36202" cy="9236202"/>
            </a:xfrm>
            <a:custGeom>
              <a:avLst/>
              <a:gdLst/>
              <a:ahLst/>
              <a:cxnLst/>
              <a:rect l="l" t="t" r="r" b="b"/>
              <a:pathLst>
                <a:path w="9236202" h="9236202">
                  <a:moveTo>
                    <a:pt x="0" y="4618101"/>
                  </a:moveTo>
                  <a:lnTo>
                    <a:pt x="4618101" y="0"/>
                  </a:lnTo>
                  <a:lnTo>
                    <a:pt x="9236202" y="4618101"/>
                  </a:lnTo>
                  <a:lnTo>
                    <a:pt x="4618101" y="9236202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3529930" y="5238118"/>
            <a:ext cx="5494638" cy="5494638"/>
            <a:chOff x="0" y="0"/>
            <a:chExt cx="7326184" cy="73261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26122" cy="7326122"/>
            </a:xfrm>
            <a:custGeom>
              <a:avLst/>
              <a:gdLst/>
              <a:ahLst/>
              <a:cxnLst/>
              <a:rect l="l" t="t" r="r" b="b"/>
              <a:pathLst>
                <a:path w="7326122" h="7326122">
                  <a:moveTo>
                    <a:pt x="0" y="3663061"/>
                  </a:moveTo>
                  <a:lnTo>
                    <a:pt x="3663061" y="0"/>
                  </a:lnTo>
                  <a:lnTo>
                    <a:pt x="7326122" y="3663061"/>
                  </a:lnTo>
                  <a:lnTo>
                    <a:pt x="3663061" y="7326122"/>
                  </a:lnTo>
                  <a:close/>
                </a:path>
              </a:pathLst>
            </a:custGeom>
            <a:blipFill>
              <a:blip r:embed="rId2"/>
              <a:stretch>
                <a:fillRect l="-45725" t="-34061" r="-144555" b="-29023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918192" y="8560483"/>
            <a:ext cx="3634061" cy="1291223"/>
          </a:xfrm>
          <a:custGeom>
            <a:avLst/>
            <a:gdLst/>
            <a:ahLst/>
            <a:cxnLst/>
            <a:rect l="l" t="t" r="r" b="b"/>
            <a:pathLst>
              <a:path w="3634061" h="1291223">
                <a:moveTo>
                  <a:pt x="0" y="0"/>
                </a:moveTo>
                <a:lnTo>
                  <a:pt x="3634061" y="0"/>
                </a:lnTo>
                <a:lnTo>
                  <a:pt x="3634061" y="1291223"/>
                </a:lnTo>
                <a:lnTo>
                  <a:pt x="0" y="1291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680070" y="8560483"/>
            <a:ext cx="1364816" cy="1291223"/>
          </a:xfrm>
          <a:custGeom>
            <a:avLst/>
            <a:gdLst/>
            <a:ahLst/>
            <a:cxnLst/>
            <a:rect l="l" t="t" r="r" b="b"/>
            <a:pathLst>
              <a:path w="1364816" h="1291223">
                <a:moveTo>
                  <a:pt x="0" y="0"/>
                </a:moveTo>
                <a:lnTo>
                  <a:pt x="1364816" y="0"/>
                </a:lnTo>
                <a:lnTo>
                  <a:pt x="1364816" y="1291223"/>
                </a:lnTo>
                <a:lnTo>
                  <a:pt x="0" y="1291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122238" y="8560483"/>
            <a:ext cx="5119787" cy="1215949"/>
          </a:xfrm>
          <a:custGeom>
            <a:avLst/>
            <a:gdLst/>
            <a:ahLst/>
            <a:cxnLst/>
            <a:rect l="l" t="t" r="r" b="b"/>
            <a:pathLst>
              <a:path w="5119787" h="1215949">
                <a:moveTo>
                  <a:pt x="0" y="0"/>
                </a:moveTo>
                <a:lnTo>
                  <a:pt x="5119787" y="0"/>
                </a:lnTo>
                <a:lnTo>
                  <a:pt x="5119787" y="1215949"/>
                </a:lnTo>
                <a:lnTo>
                  <a:pt x="0" y="1215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417067" y="8560483"/>
            <a:ext cx="2257332" cy="1215949"/>
          </a:xfrm>
          <a:custGeom>
            <a:avLst/>
            <a:gdLst/>
            <a:ahLst/>
            <a:cxnLst/>
            <a:rect l="l" t="t" r="r" b="b"/>
            <a:pathLst>
              <a:path w="2257332" h="1215949">
                <a:moveTo>
                  <a:pt x="0" y="0"/>
                </a:moveTo>
                <a:lnTo>
                  <a:pt x="2257332" y="0"/>
                </a:lnTo>
                <a:lnTo>
                  <a:pt x="2257332" y="1215949"/>
                </a:lnTo>
                <a:lnTo>
                  <a:pt x="0" y="1215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8192" y="894443"/>
            <a:ext cx="2854015" cy="1574437"/>
          </a:xfrm>
          <a:custGeom>
            <a:avLst/>
            <a:gdLst/>
            <a:ahLst/>
            <a:cxnLst/>
            <a:rect l="l" t="t" r="r" b="b"/>
            <a:pathLst>
              <a:path w="2854015" h="1574437">
                <a:moveTo>
                  <a:pt x="0" y="0"/>
                </a:moveTo>
                <a:lnTo>
                  <a:pt x="2854015" y="0"/>
                </a:lnTo>
                <a:lnTo>
                  <a:pt x="2854015" y="1574437"/>
                </a:lnTo>
                <a:lnTo>
                  <a:pt x="0" y="15744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1398</Words>
  <Application>Microsoft Office PowerPoint</Application>
  <PresentationFormat>Personnalisé</PresentationFormat>
  <Paragraphs>167</Paragraphs>
  <Slides>16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Montserrat</vt:lpstr>
      <vt:lpstr>Montserrat Bold</vt:lpstr>
      <vt:lpstr>Arial</vt:lpstr>
      <vt:lpstr>Montserrat Ultra-Bold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L’IA : accélérateurs d’attaques sophistiquées</dc:title>
  <cp:lastModifiedBy>baudouin egnonse</cp:lastModifiedBy>
  <cp:revision>4</cp:revision>
  <dcterms:created xsi:type="dcterms:W3CDTF">2006-08-16T00:00:00Z</dcterms:created>
  <dcterms:modified xsi:type="dcterms:W3CDTF">2025-12-11T07:05:51Z</dcterms:modified>
  <dc:identifier>DAG67797rTI</dc:identifier>
</cp:coreProperties>
</file>